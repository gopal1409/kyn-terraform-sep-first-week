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E1E85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291840"/>
            <a:ext cx="3840480" cy="3840480"/>
          </a:xfrm>
          <a:prstGeom prst="ellipse">
            <a:avLst/>
          </a:prstGeom>
          <a:solidFill>
            <a:srgbClr val="00D6B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566928" cy="566928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5" name="Image 0" descr="/home/claude/tfc_deck/icons/terra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90479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77724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 ·  DEVOPS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Cloud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0D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Elevating Your CI/CD Pipeline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ad-hoc terraform apply scripts to governed, collaborative, policy-checked infrastructure delivery.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4892040"/>
            <a:ext cx="2011680" cy="0"/>
          </a:xfrm>
          <a:prstGeom prst="line">
            <a:avLst/>
          </a:prstGeom>
          <a:noFill/>
          <a:ln w="31750">
            <a:solidFill>
              <a:srgbClr val="00D6B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in a Plain CI/CD Runner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"terraform apply" from a generic pipeline job works — until it doesn’t.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4028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7" name="Image 0" descr="/home/claude/tfc_deck/icons/excla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3637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21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Conflicts &amp; Drift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or bucket-based state with no locking guarantee — concurrent runs corrupt or overwrite each other.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96596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24028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2" name="Image 1" descr="/home/claude/tfc_deck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23637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22199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Sprawl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46520" y="283464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credentials copy-pasted into every pipeline’s environment variables and job definitions.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160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7" name="Image 2" descr="/home/claude/tfc_deck/icons/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5582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4165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Governance Gate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914400" y="5029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merged PR can trigger an apply — no consistent policy, cost, or security check before infra changes.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4160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43484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22" name="Image 3" descr="/home/claude/tfc_deck/icons/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455828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78040" y="44165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Runs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46520" y="5029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versions, plugin caches, and CLI versions drift between agents/runners, causing "works on my runner" issues.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You Add Terraform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F3F1F9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47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SELF-MANAGED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D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 run inline in a generic CI job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D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in a shared bucket, locking is best-effort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D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injected as raw pipeline env variables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D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happen in chat, not enforced by tooling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1D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visibility before infrastructure changes 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212080" cy="4572000"/>
          </a:xfrm>
          <a:prstGeom prst="roundRect">
            <a:avLst>
              <a:gd name="adj" fmla="val 1800"/>
            </a:avLst>
          </a:prstGeom>
          <a:solidFill>
            <a:srgbClr val="4B32C3"/>
          </a:solidFill>
          <a:ln/>
          <a:effectLst>
            <a:outerShdw sx="100000" sy="100000" kx="0" ky="0" algn="bl" rotWithShape="0" blurRad="127000" dist="50800" dir="5400000">
              <a:srgbClr val="4B32C3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947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TERRAFORM CLOUD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VCS-driven runs: plan on PR, apply on merge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with automatic locking &amp; versioning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centralized in workspace/variable sets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Sentinel/OPA policy checks gate every apply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estimation shown on every plan, before apply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Plugs Into Your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23317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2587752"/>
            <a:ext cx="502920" cy="502920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6" name="Image 0" descr="/home/claude/tfc_deck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053" y="2700909"/>
            <a:ext cx="276606" cy="2766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85416" y="2587752"/>
            <a:ext cx="502920" cy="502920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8" name="Image 1" descr="/home/claude/tfc_deck/icons/git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573" y="2700909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8076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Control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08076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/ GitLab / Azure Repos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781044" y="3090672"/>
            <a:ext cx="603504" cy="219456"/>
          </a:xfrm>
          <a:prstGeom prst="rightArrow">
            <a:avLst/>
          </a:prstGeom>
          <a:solidFill>
            <a:srgbClr val="00D6B4"/>
          </a:solidFill>
          <a:ln/>
        </p:spPr>
      </p:sp>
      <p:sp>
        <p:nvSpPr>
          <p:cNvPr id="12" name="Shape 8"/>
          <p:cNvSpPr/>
          <p:nvPr/>
        </p:nvSpPr>
        <p:spPr>
          <a:xfrm>
            <a:off x="4494276" y="23317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4B32C3"/>
          </a:solidFill>
          <a:ln w="19050">
            <a:solidFill>
              <a:srgbClr val="00D6B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77256" y="2587752"/>
            <a:ext cx="502920" cy="502920"/>
          </a:xfrm>
          <a:prstGeom prst="ellipse">
            <a:avLst/>
          </a:prstGeom>
          <a:solidFill>
            <a:srgbClr val="2E1E85"/>
          </a:solidFill>
          <a:ln/>
        </p:spPr>
      </p:sp>
      <p:pic>
        <p:nvPicPr>
          <p:cNvPr id="14" name="Image 2" descr="/home/claude/tfc_deck/icons/terra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413" y="2700909"/>
            <a:ext cx="276606" cy="27660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208776" y="2587752"/>
            <a:ext cx="502920" cy="502920"/>
          </a:xfrm>
          <a:prstGeom prst="ellipse">
            <a:avLst/>
          </a:prstGeom>
          <a:solidFill>
            <a:srgbClr val="2E1E85"/>
          </a:solidFill>
          <a:ln/>
        </p:spPr>
      </p:sp>
      <p:pic>
        <p:nvPicPr>
          <p:cNvPr id="16" name="Image 3" descr="/home/claude/tfc_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933" y="2700909"/>
            <a:ext cx="276606" cy="27660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31436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Cloud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631436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Policy Check · Apply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804404" y="3090672"/>
            <a:ext cx="603504" cy="219456"/>
          </a:xfrm>
          <a:prstGeom prst="rightArrow">
            <a:avLst/>
          </a:prstGeom>
          <a:solidFill>
            <a:srgbClr val="00D6B4"/>
          </a:solidFill>
          <a:ln/>
        </p:spPr>
      </p:sp>
      <p:sp>
        <p:nvSpPr>
          <p:cNvPr id="20" name="Shape 14"/>
          <p:cNvSpPr/>
          <p:nvPr/>
        </p:nvSpPr>
        <p:spPr>
          <a:xfrm>
            <a:off x="8517636" y="233172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500616" y="2587752"/>
            <a:ext cx="502920" cy="502920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22" name="Image 4" descr="/home/claude/tfc_deck/icons/aw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3773" y="2700909"/>
            <a:ext cx="276606" cy="276606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232136" y="2587752"/>
            <a:ext cx="502920" cy="502920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24" name="Image 5" descr="/home/claude/tfc_deck/icons/kubernet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5293" y="2700909"/>
            <a:ext cx="276606" cy="27660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654796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Infrastructure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8654796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Azure · Kubernetes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A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to main triggers a run — Terraform Cloud plans, checks policy &amp; cost, then applies to your cloud with a full audit trail.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973836" y="5349240"/>
            <a:ext cx="384048" cy="384048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29" name="Image 6" descr="/home/claude/tfc_deck/icons/c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445252"/>
            <a:ext cx="192024" cy="19202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76756" y="53492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VCS-driven runs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539996" y="5349240"/>
            <a:ext cx="384048" cy="384048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32" name="Image 7" descr="/home/claude/tfc_deck/icons/syn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008" y="5445252"/>
            <a:ext cx="192024" cy="19202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042916" y="53492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CLI-driven runs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8106156" y="5349240"/>
            <a:ext cx="384048" cy="384048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35" name="Image 8" descr="/home/claude/tfc_deck/icons/rock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2168" y="5445252"/>
            <a:ext cx="192024" cy="1920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609076" y="53492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API-driven runs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State That Actually Protects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6" name="Image 0" descr="/home/claude/tfc_deck/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2722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305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Backend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authoritative state per workspace — no more local .tfstate files or ad-hoc S3 conventions per team.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4884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1" name="Image 1" descr="/home/claude/tf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22722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3055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Locking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74320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holds a lock for its full lifecycle, so two pipeline jobs can never apply against the same state at once.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6" name="Image 2" descr="/home/claude/tfc_deck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5125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708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Versioning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snapshot is retained; roll back to a prior version if an apply produces an unexpected result.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074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38912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21" name="Image 3" descr="/home/claude/tfc_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45125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70832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at Rest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46520" y="4983480"/>
            <a:ext cx="4526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— which can contain sensitive attributes — is encrypted and access-controlled by workspace permissions.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Policy Gate Built Into the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or OPA policies run automatically between plan and apply — no separate compliance step to remember.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5216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1EDFB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908" y="2624328"/>
            <a:ext cx="585216" cy="585216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7" name="Image 0" descr="/home/claude/tfc_dec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1582" y="2756002"/>
            <a:ext cx="321869" cy="3218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22376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" y="37947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plan generated from the PR diff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27248" y="3566160"/>
            <a:ext cx="265176" cy="182880"/>
          </a:xfrm>
          <a:prstGeom prst="rightArrow">
            <a:avLst/>
          </a:prstGeom>
          <a:solidFill>
            <a:srgbClr val="4B32C3"/>
          </a:solidFill>
          <a:ln/>
        </p:spPr>
      </p:sp>
      <p:sp>
        <p:nvSpPr>
          <p:cNvPr id="12" name="Shape 9"/>
          <p:cNvSpPr/>
          <p:nvPr/>
        </p:nvSpPr>
        <p:spPr>
          <a:xfrm>
            <a:off x="3419856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1EDFB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4548" y="2624328"/>
            <a:ext cx="585216" cy="585216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4" name="Image 1" descr="/home/claude/tfc_deck/icons/moneybi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222" y="2756002"/>
            <a:ext cx="321869" cy="3218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57016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57016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Check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02736" y="37947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delta shown on the run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61888" y="3566160"/>
            <a:ext cx="265176" cy="182880"/>
          </a:xfrm>
          <a:prstGeom prst="rightArrow">
            <a:avLst/>
          </a:prstGeom>
          <a:solidFill>
            <a:srgbClr val="4B32C3"/>
          </a:solidFill>
          <a:ln/>
        </p:spPr>
      </p:sp>
      <p:sp>
        <p:nvSpPr>
          <p:cNvPr id="19" name="Shape 15"/>
          <p:cNvSpPr/>
          <p:nvPr/>
        </p:nvSpPr>
        <p:spPr>
          <a:xfrm>
            <a:off x="6254496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4B32C3"/>
          </a:solidFill>
          <a:ln w="12700">
            <a:solidFill>
              <a:srgbClr val="4B32C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19188" y="2624328"/>
            <a:ext cx="585216" cy="585216"/>
          </a:xfrm>
          <a:prstGeom prst="ellipse">
            <a:avLst/>
          </a:prstGeom>
          <a:solidFill>
            <a:srgbClr val="2E1E85"/>
          </a:solidFill>
          <a:ln/>
        </p:spPr>
      </p:sp>
      <p:pic>
        <p:nvPicPr>
          <p:cNvPr id="21" name="Image 2" descr="/home/claude/tfc_deck/icons/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862" y="2756002"/>
            <a:ext cx="321869" cy="32186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91656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91656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Check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37376" y="37947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Sentinel/OPA enforces security &amp; tagging rules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796528" y="3566160"/>
            <a:ext cx="265176" cy="182880"/>
          </a:xfrm>
          <a:prstGeom prst="rightArrow">
            <a:avLst/>
          </a:prstGeom>
          <a:solidFill>
            <a:srgbClr val="4B32C3"/>
          </a:solidFill>
          <a:ln/>
        </p:spPr>
      </p:sp>
      <p:sp>
        <p:nvSpPr>
          <p:cNvPr id="26" name="Shape 21"/>
          <p:cNvSpPr/>
          <p:nvPr/>
        </p:nvSpPr>
        <p:spPr>
          <a:xfrm>
            <a:off x="9089136" y="233172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1EDFB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0053828" y="2624328"/>
            <a:ext cx="585216" cy="585216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28" name="Image 3" descr="/home/claude/tfc_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02" y="2756002"/>
            <a:ext cx="321869" cy="32186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26296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226296" y="33832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272016" y="3794760"/>
            <a:ext cx="21488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after checks pass and approval is given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policy check blocks the apply automatically — no infrastructure ships outside the guardrails.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Workflow, Not Just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5" name="Image 0" descr="/home/claude/tfc_deck/icons/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" y="20436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Workspaces per Environment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937760" y="182880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and prod are isolated workspaces, each with its own state, variables, and run history.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98648"/>
            <a:ext cx="10881360" cy="0"/>
          </a:xfrm>
          <a:prstGeom prst="line">
            <a:avLst/>
          </a:prstGeom>
          <a:noFill/>
          <a:ln w="12700">
            <a:solidFill>
              <a:srgbClr val="E4D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0" name="Image 1" descr="/home/claude/tfc_deck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" y="31409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92608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Team-Based RBAC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292608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map to teams — who can plan, who can approve an apply, who can manage variables.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995928"/>
            <a:ext cx="10881360" cy="0"/>
          </a:xfrm>
          <a:prstGeom prst="line">
            <a:avLst/>
          </a:prstGeom>
          <a:noFill/>
          <a:ln w="12700">
            <a:solidFill>
              <a:srgbClr val="E4D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5" name="Image 2" descr="/home/claude/tfc_deck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423824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02336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Variable Sets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937760" y="402336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credentials and common variables are defined once and attached to many workspaces, not duplicated per pipeline.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5093208"/>
            <a:ext cx="10881360" cy="0"/>
          </a:xfrm>
          <a:prstGeom prst="line">
            <a:avLst/>
          </a:prstGeom>
          <a:noFill/>
          <a:ln w="12700">
            <a:solidFill>
              <a:srgbClr val="E4D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20" name="Image 3" descr="/home/claude/tfc_deck/icons/hist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533552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12064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Run History &amp; Audit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937760" y="512064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plan, comment, policy result, and apply is logged — answering "who changed what, and why" instantly.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 the Tools You Already Run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A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connects as the infrastructure stage of pipelines built on any of these — triggered by a webhook or a CLI/API call.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1228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4208" y="251460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7" name="Image 0" descr="/home/claude/tfc_deck/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7652" y="26380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2668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51860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251460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1" name="Image 1" descr="/home/claude/tfc_deck/icons/gitl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284" y="26380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330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CI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22492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05472" y="251460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5" name="Image 2" descr="/home/claude/tfc_deck/icons/jenk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916" y="263804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13932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993124" y="228600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976104" y="251460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19" name="Image 3" descr="/home/claude/tfc_deck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9548" y="263804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84564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Pipelines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81228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664208" y="438912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23" name="Image 4" descr="/home/claude/tfc_deck/icons/kubernet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7652" y="451256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2668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3451860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434840" y="438912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27" name="Image 5" descr="/home/claude/tfc_deck/icons/aw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284" y="4512564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43300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222492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205472" y="438912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31" name="Image 6" descr="/home/claude/tfc_deck/icons/az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916" y="4512564"/>
            <a:ext cx="301752" cy="30175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13932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250" dirty="0"/>
          </a:p>
        </p:txBody>
      </p:sp>
      <p:sp>
        <p:nvSpPr>
          <p:cNvPr id="33" name="Shape 24"/>
          <p:cNvSpPr/>
          <p:nvPr/>
        </p:nvSpPr>
        <p:spPr>
          <a:xfrm>
            <a:off x="8993124" y="416052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241A47"/>
          </a:solidFill>
          <a:ln w="12700">
            <a:solidFill>
              <a:srgbClr val="3B2E70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976104" y="4389120"/>
            <a:ext cx="548640" cy="548640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35" name="Image 7" descr="/home/claude/tfc_deck/icons/syn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9548" y="4512564"/>
            <a:ext cx="301752" cy="30175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84564" y="5074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Webhook/API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B3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Adoption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5216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240280"/>
            <a:ext cx="621792" cy="621792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22376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 State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352044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existing .tfstate into Terraform Cloud workspaces; validate plans show no unexpected diff.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27248" y="2240280"/>
            <a:ext cx="265176" cy="182880"/>
          </a:xfrm>
          <a:prstGeom prst="rightArrow">
            <a:avLst/>
          </a:prstGeom>
          <a:solidFill>
            <a:srgbClr val="4B32C3"/>
          </a:solidFill>
          <a:ln/>
        </p:spPr>
      </p:sp>
      <p:sp>
        <p:nvSpPr>
          <p:cNvPr id="10" name="Shape 8"/>
          <p:cNvSpPr/>
          <p:nvPr/>
        </p:nvSpPr>
        <p:spPr>
          <a:xfrm>
            <a:off x="3419856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2240280"/>
            <a:ext cx="621792" cy="621792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57016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VCS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1024" y="352044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 repo so pull requests trigger speculative plans automatically, with results posted as PR comments.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61888" y="2240280"/>
            <a:ext cx="265176" cy="182880"/>
          </a:xfrm>
          <a:prstGeom prst="rightArrow">
            <a:avLst/>
          </a:prstGeom>
          <a:solidFill>
            <a:srgbClr val="4B32C3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4496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00900" y="2240280"/>
            <a:ext cx="621792" cy="621792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91656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Guardrails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352044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Sentinel/OPA policies for tagging, region, and cost limits; run them in advisory mode first.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96528" y="2240280"/>
            <a:ext cx="265176" cy="182880"/>
          </a:xfrm>
          <a:prstGeom prst="rightArrow">
            <a:avLst/>
          </a:prstGeom>
          <a:solidFill>
            <a:srgbClr val="4B32C3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9136" y="1965960"/>
            <a:ext cx="2514600" cy="3383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sx="100000" sy="100000" kx="0" ky="0" algn="bl" rotWithShape="0" blurRad="101600" dist="38100" dir="5400000">
              <a:srgbClr val="4B32C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35540" y="2240280"/>
            <a:ext cx="621792" cy="621792"/>
          </a:xfrm>
          <a:prstGeom prst="ellipse">
            <a:avLst/>
          </a:prstGeom>
          <a:solidFill>
            <a:srgbClr val="4B32C3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5540" y="22402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26296" y="3063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the Pipeline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90304" y="3520440"/>
            <a:ext cx="211226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7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merges on a passing plan and policy check; require approval before apply on production workspaces.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2E1E8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566928" cy="566928"/>
          </a:xfrm>
          <a:prstGeom prst="ellipse">
            <a:avLst/>
          </a:prstGeom>
          <a:solidFill>
            <a:srgbClr val="4B32C3"/>
          </a:solidFill>
          <a:ln/>
        </p:spPr>
      </p:sp>
      <p:pic>
        <p:nvPicPr>
          <p:cNvPr id="4" name="Image 0" descr="/home/claude/tfc_deck/icons/terra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859079"/>
            <a:ext cx="311810" cy="3118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7315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C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15544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Infrastructure, Delivered Like Software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8" name="Image 1" descr="/home/claude/tfc_deck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28689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74320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and locking remove the race conditions of self-managed backends.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11" name="Image 2" descr="/home/claude/tfc_deck/icons/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73761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361188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turns compliance from a review meeting into an automated pipeline stage.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2E2358"/>
          </a:solidFill>
          <a:ln/>
        </p:spPr>
      </p:sp>
      <p:pic>
        <p:nvPicPr>
          <p:cNvPr id="14" name="Image 3" descr="/home/claude/tfc_deck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60629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448056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Workspaces, RBAC, and run history give every team a shared, auditable source of truth.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822960" y="5623560"/>
            <a:ext cx="2011680" cy="0"/>
          </a:xfrm>
          <a:prstGeom prst="line">
            <a:avLst/>
          </a:prstGeom>
          <a:noFill/>
          <a:ln w="31750">
            <a:solidFill>
              <a:srgbClr val="00D6B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D6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CLOUD · CI/CD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2026-09-03T04:06:27Z</dcterms:created>
  <dcterms:modified xsi:type="dcterms:W3CDTF">2026-09-03T04:06:27Z</dcterms:modified>
</cp:coreProperties>
</file>