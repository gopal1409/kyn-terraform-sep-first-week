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746"/>
                </a:solidFill>
              </a:rPr>
              <a:t>AWS INFRASTRUCTURE WITH 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F6976"/>
                </a:solidFill>
              </a:rPr>
              <a:t>VPC • Subnets • Internet Gateway • Route Table • EC2 • Security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8036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880360"/>
            <a:ext cx="310896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26664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47288"/>
            <a:ext cx="2743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variables.tf / terraform.tfvars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Region, project, environment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VPC and subnet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88036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880360"/>
            <a:ext cx="310896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026664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47288"/>
            <a:ext cx="2743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VPC + 2 subnets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Internet Gateway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Custom route table + route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Subnet associations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88036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880360"/>
            <a:ext cx="310896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26664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47288"/>
            <a:ext cx="2743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Ubuntu 24.04 AMI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EC2 t2.micro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Security Group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app.sh user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3212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2746"/>
                </a:solidFill>
              </a:rPr>
              <a:t>Goal: understand how Terraform configuration becomes AWS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1. Terraform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How the configuration is separated into manageable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variables.tf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310896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Defines user inputs and their types.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aws_region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project_name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environment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vpc_cidr_block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subnets (map of objects)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Why: makes the configuration reusable.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47472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63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locals.tf + provider.tf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84248"/>
            <a:ext cx="310896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locals.tf → common tags and reusable local values.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provider.tf → declares the AWS provider and region.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Why: centralizes repeated configuration and provider settings.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347472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563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resources +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984248"/>
            <a:ext cx="310896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vpc.tf → VPC and subnets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igw.tf → Internet Gateway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route.tf → route table and route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sg.tf → security group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ec2.tf → EC2 instance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outputs.tf → useful results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app.sh → bootstrap 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2. Variables: Inputs to the Terraform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Variables make the same code usable across regions and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486400" cy="448056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35607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variables.tf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64792"/>
            <a:ext cx="515721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variable "aws_region"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type    = string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default = "us-east-1"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variable "vpc_cidr_block"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type    = string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default = "10.0.0.0/16"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variable "subnets"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type = map(object({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cidr_block       = string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availability_zone = string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}))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21208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7218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Primitive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92807"/>
            <a:ext cx="48463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string values such as region, project name and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432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743200"/>
            <a:ext cx="521208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8895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Complex variable: map(object(...))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10128"/>
            <a:ext cx="48463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Each subnet has a key, CIDR block and availability zone.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1605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160520"/>
            <a:ext cx="521208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3068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Why use variables?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27448"/>
            <a:ext cx="4846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Avoid hard-coding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Support dev/test/prod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Override defaults with terraform.tfvars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Improve module reusability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3. Locals and Common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A local value is calculated or reusable configuration inside the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86400" cy="347472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locals.tf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15721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locals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common_tags =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Name        = "gopal-project"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Project     = var.project_name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Environment = var.environment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ManagedBy   = "IT"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tags = local.common_tags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521208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636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What is a local?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84248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 named value used inside the Terraform configuration; it is not a user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43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743200"/>
            <a:ext cx="521208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8895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Why common tags?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10128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The same tag set can be attached to the VPC, gateway, route table, security group and EC2 instance.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3434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343400"/>
            <a:ext cx="521208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4897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Operational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10328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Tags help with cost allocation, ownership, environment identification and resource management.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4. AWS Provider and Ubuntu AMI 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Provider connects Terraform to AWS; data source discovers an existing AWS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394960" cy="329184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89888"/>
            <a:ext cx="5065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provider.tf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506577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terraform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required_providers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aws =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  source  = "hashicorp/aws"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  version = "~&gt; 6.0"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provider "aws"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region = var.aws_region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394960" cy="329184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389888"/>
            <a:ext cx="5065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AMI 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19072"/>
            <a:ext cx="506577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data "aws_ami" "ubuntu"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most_recent = true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owners = ["099720109477"]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filter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name   = "name"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values = ["ubuntu/images/hvm-ssd-gp3/ubuntu-noble-24.04-amd64-server-*"]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846320"/>
            <a:ext cx="5394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846320"/>
            <a:ext cx="539496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9262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132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Defines which cloud provider Terraform uses and which AWS region receives 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846320"/>
            <a:ext cx="5394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846320"/>
            <a:ext cx="539496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99262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Data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4132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Reads an existing value from AWS; it does not create the AMI.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5. VPC and Multi-Subnet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The VPC is the logical network boundary for the workload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274320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VPC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237744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CIDR: 10.0.0.0/16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Creates an isolated AWS network.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All subnets, route tables, security groups and the EC2 instance are associated with this VPC.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274320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56362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Subnet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84248"/>
            <a:ext cx="23774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10.0.1.0/24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us-east-1a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Used by the EC2 web instance.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749039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3749039"/>
            <a:ext cx="274320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89534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Subnet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315968"/>
            <a:ext cx="23774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10.0.2.0/24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us-east-1b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Provides a second AZ for the network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417320"/>
            <a:ext cx="4937760" cy="329184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1527048"/>
            <a:ext cx="46085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vpc.tf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1856232"/>
            <a:ext cx="460857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resource "aws_subnet" "projecty-subnet"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for_each = var.subnets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vpc_id            = aws_vpc.projecty-vpc.id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cidr_block        = each.value.cidr_block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availability_zone = each.value.availability_zone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892040"/>
            <a:ext cx="4937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4892040"/>
            <a:ext cx="493776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03834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for_each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458968"/>
            <a:ext cx="4572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Creates one subnet resource instance for every key in var.subnets.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6. Internet Gateway, Route Table and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These resources provide internet routing for the public subnets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2743200" cy="73152"/>
          </a:xfrm>
          <a:prstGeom prst="rect">
            <a:avLst/>
          </a:prstGeom>
          <a:solidFill>
            <a:srgbClr val="24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48991"/>
                </a:solidFill>
              </a:rPr>
              <a:t>Internet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237744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Attached to the VPC.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Purpose: provides a path between the VPC and the public internet for resources that have appropriate public addressing and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274320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56362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Custom Route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84248"/>
            <a:ext cx="237744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Contains: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0.0.0.0/0 → Internet Gateway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The default route says: traffic destined outside the VPC should go to the IGW.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417320"/>
            <a:ext cx="2468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1417320"/>
            <a:ext cx="246888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563624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Associations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984248"/>
            <a:ext cx="210312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Each subnet is associated with the custom route table.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Because the configuration uses for_each, both subnet1 and subnet2 are associated.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417320"/>
            <a:ext cx="2194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1417320"/>
            <a:ext cx="219456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563624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Traffic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984248"/>
            <a:ext cx="182880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EC2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Subnet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Route Table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0.0.0.0/0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IGW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600">
                <a:solidFill>
                  <a:srgbClr val="232B36"/>
                </a:solidFill>
              </a:defRPr>
            </a:pPr>
            <a:r>
              <a:t>Internet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7. Security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A security group acts as a stateful virtual firewall for the EC2 instance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75488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Inbound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43891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HTTP  : TCP 80  from 0.0.0.0/0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HTTPS : TCP 443 from 0.0.0.0/0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SSH   : TCP 22  from 0.0.0.0/0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These rules allow web traffic and remote administration from anywhere on the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17320"/>
            <a:ext cx="2834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417320"/>
            <a:ext cx="283464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63624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Outbound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46888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All traffic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0.0.0.0/0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The instance can initiate outbound connections.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Security groups are stateful: return traffic for an allowed connection is automatically permitted.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417320"/>
            <a:ext cx="2926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1417320"/>
            <a:ext cx="292608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59" y="1563624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Important production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1984248"/>
            <a:ext cx="25603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SSH from 0.0.0.0/0 is convenient for a lab but risky in production.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Prefer: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trusted IP ranges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VPN / bastion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AWS Systems Manager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• least-privilege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8. EC2 Instance and User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Terraform creates the compute instance and bootstraps it with app.sh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715000" cy="475488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89888"/>
            <a:ext cx="5385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ec2.tf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538581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resource "aws_instance" "web"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ami           = data.aws_ami.ubuntu.id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instance_type = "t2.micro"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subnet_id = aws_subnet.projecty-subnet["subnet1"].id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vpc_security_group_ids = [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aws_security_group.web.id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associate_public_ip_address = true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key_name  = "gopal"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user_data = file("${path.module}/app.sh")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80160"/>
            <a:ext cx="498348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26463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AMI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47088"/>
            <a:ext cx="46177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Uses the Ubuntu 24.04 AMI discovered by the data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69748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697480"/>
            <a:ext cx="4983480" cy="73152"/>
          </a:xfrm>
          <a:prstGeom prst="rect">
            <a:avLst/>
          </a:prstGeom>
          <a:solidFill>
            <a:srgbClr val="24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843784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48991"/>
                </a:solidFill>
              </a:rPr>
              <a:t>Public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64408"/>
            <a:ext cx="46177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associate_public_ip_address = true allows a public IPv4 address to be assigned at launch.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11480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114800"/>
            <a:ext cx="498348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61104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user_data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681728"/>
            <a:ext cx="46177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file(path) reads app.sh from the module directory and sends it to EC2 during initialization.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9. Terraform References, Dependencies and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Terraform builds a dependency graph from resource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24612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790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288036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aws_vpc.projecty-vpc.id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aws_subnet.projecty-subnet["subnet1"].id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aws_security_group.web.id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These references connect resources and allow Terraform to know which values come from which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7160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371600"/>
            <a:ext cx="324612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51790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38528"/>
            <a:ext cx="288036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 → Subnets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 → IGW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IGW → Route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Subnets → Route associations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Subnet + SG + AMI → EC2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Terraform generally creates dependencies automatically from these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71600"/>
            <a:ext cx="4023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371600"/>
            <a:ext cx="402336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517904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State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938528"/>
            <a:ext cx="365760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terraform.tfstate records Terraform's view of managed infrastructure.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It helps Terraform compare configuration with the deployed resources during plan/apply.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Production: use a remote backend, state locking where supported, access control and encryption.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10.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Outputs expose important values after terraform apply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577840" cy="347472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35607"/>
            <a:ext cx="524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AB4C3"/>
                </a:solidFill>
              </a:rPr>
              <a:t>outputs.tf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64792"/>
            <a:ext cx="5248655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output "vpc_id"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value = aws_vpc.projecty-vpc.id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output "ubuntu_ami_id"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value = data.aws_ami.ubuntu.id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output "web_instance_public_ip" {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value = aws_instance.web.public_ip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166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516636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7218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vpc_id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9280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Returns the ID of the created VPC.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166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514600"/>
            <a:ext cx="516636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6090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vpc_cidr_block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8152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Returns 10.0.0.0/16 from the VPC resource.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03320"/>
            <a:ext cx="5166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03320"/>
            <a:ext cx="516636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4962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igw / ubuntu_ami_id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7024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Returns the Internet Gateway ID and selected Ubuntu AMI 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92040"/>
            <a:ext cx="5166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892040"/>
            <a:ext cx="516636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03834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web_instance_id / public_ip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5896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Makes the EC2 ID and public IPv4 easy to retrieve with terraform output.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11. End-to-End Terraform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From input variables to running AWS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783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178308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55063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Edit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141731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variables.tf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terraform.tfvars</a:t>
            </a:r>
          </a:p>
        </p:txBody>
      </p:sp>
      <p:sp>
        <p:nvSpPr>
          <p:cNvPr id="9" name="Chevron 8"/>
          <p:cNvSpPr/>
          <p:nvPr/>
        </p:nvSpPr>
        <p:spPr>
          <a:xfrm>
            <a:off x="2286000" y="2743200"/>
            <a:ext cx="320040" cy="502920"/>
          </a:xfrm>
          <a:prstGeom prst="chevron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1508760"/>
            <a:ext cx="1783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1508760"/>
            <a:ext cx="178308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1655063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Initialize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075688"/>
            <a:ext cx="141731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 init</a:t>
            </a:r>
          </a:p>
        </p:txBody>
      </p:sp>
      <p:sp>
        <p:nvSpPr>
          <p:cNvPr id="14" name="Chevron 13"/>
          <p:cNvSpPr/>
          <p:nvPr/>
        </p:nvSpPr>
        <p:spPr>
          <a:xfrm>
            <a:off x="4187952" y="2743200"/>
            <a:ext cx="320040" cy="502920"/>
          </a:xfrm>
          <a:prstGeom prst="chevron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6824" y="1508760"/>
            <a:ext cx="1783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508760"/>
            <a:ext cx="178308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1655063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075688"/>
            <a:ext cx="141731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 fmt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 validate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6089904" y="2743200"/>
            <a:ext cx="320040" cy="502920"/>
          </a:xfrm>
          <a:prstGeom prst="chevron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1508760"/>
            <a:ext cx="1783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508760"/>
            <a:ext cx="178308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655063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075688"/>
            <a:ext cx="141731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 plan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-review changes</a:t>
            </a:r>
          </a:p>
        </p:txBody>
      </p:sp>
      <p:sp>
        <p:nvSpPr>
          <p:cNvPr id="24" name="Chevron 23"/>
          <p:cNvSpPr/>
          <p:nvPr/>
        </p:nvSpPr>
        <p:spPr>
          <a:xfrm>
            <a:off x="7991856" y="2743200"/>
            <a:ext cx="320040" cy="502920"/>
          </a:xfrm>
          <a:prstGeom prst="chevron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0728" y="1508760"/>
            <a:ext cx="1783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0728" y="1508760"/>
            <a:ext cx="1783080" cy="73152"/>
          </a:xfrm>
          <a:prstGeom prst="rect">
            <a:avLst/>
          </a:prstGeom>
          <a:solidFill>
            <a:srgbClr val="24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1655063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48991"/>
                </a:solidFill>
              </a:rPr>
              <a:t>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075688"/>
            <a:ext cx="141731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 apply</a:t>
            </a:r>
          </a:p>
        </p:txBody>
      </p:sp>
      <p:sp>
        <p:nvSpPr>
          <p:cNvPr id="29" name="Chevron 28"/>
          <p:cNvSpPr/>
          <p:nvPr/>
        </p:nvSpPr>
        <p:spPr>
          <a:xfrm>
            <a:off x="9893808" y="2743200"/>
            <a:ext cx="320040" cy="502920"/>
          </a:xfrm>
          <a:prstGeom prst="chevron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1508760"/>
            <a:ext cx="1783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12680" y="1508760"/>
            <a:ext cx="178308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1655063"/>
            <a:ext cx="14173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075688"/>
            <a:ext cx="141731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terraform output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AWS Console / CLI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212080"/>
            <a:ext cx="10972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5212080"/>
            <a:ext cx="10972800" cy="73152"/>
          </a:xfrm>
          <a:prstGeom prst="rect">
            <a:avLst/>
          </a:prstGeom>
          <a:solidFill>
            <a:srgbClr val="14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58384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746"/>
                </a:solidFill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79008"/>
            <a:ext cx="1060704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 + 2 subnets + IGW + custom route table + associations + security group + Ubuntu EC2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12. What Gets Created in AWS?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Logical architecture of the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7406640" cy="4526280"/>
          </a:xfrm>
          <a:prstGeom prst="roundRect">
            <a:avLst/>
          </a:prstGeom>
          <a:solidFill>
            <a:srgbClr val="EDF8F0"/>
          </a:solidFill>
          <a:ln>
            <a:solidFill>
              <a:srgbClr val="39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9874E"/>
                </a:solidFill>
              </a:rPr>
              <a:t>VPC 10.0.0.0/16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315468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1226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Public Subnet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27889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10.0.1.0/24 • us-east-1a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EC2 Web Instance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Public IP enabled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794760"/>
            <a:ext cx="315468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4106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Public Subnet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61688"/>
            <a:ext cx="27889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10.0.2.0/24 • us-east-1b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Associated with route table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No EC2 in this configuration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9659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65960"/>
            <a:ext cx="3154680" cy="73152"/>
          </a:xfrm>
          <a:prstGeom prst="rect">
            <a:avLst/>
          </a:prstGeom>
          <a:solidFill>
            <a:srgbClr val="24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1226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48991"/>
                </a:solidFill>
              </a:rPr>
              <a:t>Internet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32888"/>
            <a:ext cx="27889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aws_internet_gateway.igw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Attached to VPC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947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794760"/>
            <a:ext cx="315468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4106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Custom Route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61688"/>
            <a:ext cx="27889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aws_route_table.internet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0.0.0.0/0 → IGW</a:t>
            </a:r>
          </a:p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Both subnets associated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32588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325880"/>
            <a:ext cx="324612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147218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Security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1892807"/>
            <a:ext cx="28803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HTTP 80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HTTPS 443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SSH 22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Outbound: all traffic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56616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566160"/>
            <a:ext cx="324612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3712463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EC2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4133087"/>
            <a:ext cx="28803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Ubuntu 24.04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`t2.micro`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Key pair: gopal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user_data: app.sh</a:t>
            </a:r>
          </a:p>
          <a:p>
            <a:pPr>
              <a:spcAft>
                <a:spcPts val="600"/>
              </a:spcAft>
              <a:defRPr sz="1500">
                <a:solidFill>
                  <a:srgbClr val="232B36"/>
                </a:solidFill>
              </a:defRPr>
            </a:pPr>
            <a:r>
              <a:t>Security Group: web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77639" y="2743200"/>
            <a:ext cx="320041" cy="0"/>
          </a:xfrm>
          <a:prstGeom prst="line">
            <a:avLst/>
          </a:prstGeom>
          <a:ln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77639" y="4572000"/>
            <a:ext cx="320041" cy="0"/>
          </a:xfrm>
          <a:prstGeom prst="line">
            <a:avLst/>
          </a:prstGeom>
          <a:ln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52360" y="2743200"/>
            <a:ext cx="868680" cy="1783080"/>
          </a:xfrm>
          <a:prstGeom prst="line">
            <a:avLst/>
          </a:prstGeom>
          <a:ln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13. Key Concepts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The important ideas behind this Terraform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347472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Variables =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Control values such as region, CIDRs and subnet definitions.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347472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Locals = Reusable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92807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Common tags and calculated values used inside the configuration.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347472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Data Sources = 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92807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Read existing AWS information such as the latest matching Ubuntu AMI.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889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788920"/>
            <a:ext cx="347472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352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Resources = 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55848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VPC, subnet, IGW, route table, SG and EC2 are managed resources.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7889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788920"/>
            <a:ext cx="3474720" cy="73152"/>
          </a:xfrm>
          <a:prstGeom prst="rect">
            <a:avLst/>
          </a:prstGeom>
          <a:solidFill>
            <a:srgbClr val="24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9352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48991"/>
                </a:solidFill>
              </a:rPr>
              <a:t>References = Dependencies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355848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Resource IDs connect resources and build the dependency graph.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7889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788920"/>
            <a:ext cx="347472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9352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Outputs =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355848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Expose useful IDs and IP addresses after deployment.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2519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251960"/>
            <a:ext cx="347472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9826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for_each = 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18888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Creates one resource per entry in the subnet map.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2519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251960"/>
            <a:ext cx="347472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39826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user_data = Bootstrap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818888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Runs app.sh during EC2 initialization.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42519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4251960"/>
            <a:ext cx="3474720" cy="73152"/>
          </a:xfrm>
          <a:prstGeom prst="rect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439826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FBE"/>
                </a:solidFill>
              </a:rPr>
              <a:t>State =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818888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Tracks Terraform-managed infrastructure and enables plan/apply comparison.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14. Production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Good lab design — with several changes recommended before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Restrict SSH (22) to trusted CIDRs or use AWS Systems Manager.</a:t>
            </a:r>
          </a:p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Use a remote Terraform backend with controlled access and encryption.</a:t>
            </a:r>
          </a:p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Move key pair name and other environment-specific values into variables.</a:t>
            </a:r>
          </a:p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Use separate public/private subnets when the application needs databases or internal services.</a:t>
            </a:r>
          </a:p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Consider NAT Gateway or VPC endpoints for private-subnet egress and AWS service access.</a:t>
            </a:r>
          </a:p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Pin and test provider versions according to your organization's release policy.</a:t>
            </a:r>
          </a:p>
          <a:p>
            <a:pPr>
              <a:spcAft>
                <a:spcPts val="900"/>
              </a:spcAft>
              <a:defRPr sz="1500">
                <a:solidFill>
                  <a:srgbClr val="232B36"/>
                </a:solidFill>
              </a:defRPr>
            </a:pPr>
            <a:r>
              <a:t>• Use least-privilege IAM roles instead of static credentials on EC2.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46520" y="1417320"/>
            <a:ext cx="507492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6362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Network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84248"/>
            <a:ext cx="47091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Do not treat a subnet as public just because it has a route to an IGW. Public IPv4 addressing and routing both matter for internet reachability.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803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2880360"/>
            <a:ext cx="507492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02666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Security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47288"/>
            <a:ext cx="47091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0.0.0.0/0 on SSH is acceptable for a short-lived lab but should normally be removed or tightly restricted.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343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4343400"/>
            <a:ext cx="507492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4897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Operational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910328"/>
            <a:ext cx="47091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6"/>
                </a:solidFill>
              </a:defRPr>
            </a:pPr>
            <a:r>
              <a:t>Use remote state, CI/CD, code review, validation, security scanning and separate environments.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6"/>
                </a:solidFill>
              </a:rPr>
              <a:t>15. Quick Reference: Files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6"/>
                </a:solidFill>
              </a:rPr>
              <a:t>A simple map for teaching, troubleshooting and future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880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provider.tf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234440"/>
            <a:ext cx="7818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28016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AWS provider and region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64208"/>
            <a:ext cx="288036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variables.tf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64208"/>
            <a:ext cx="781812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709928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Input definitions and subnet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93976"/>
            <a:ext cx="2880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3969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terraform.tfvars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2093976"/>
            <a:ext cx="7818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139696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Optional environment-specific input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23744"/>
            <a:ext cx="288036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569463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locals.tf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523744"/>
            <a:ext cx="781812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2569463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Common tags / reusable local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53511"/>
            <a:ext cx="2880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99923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vpc.tf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953511"/>
            <a:ext cx="7818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2999231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VPC and subnet resources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383279"/>
            <a:ext cx="288036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428999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igw.tf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383279"/>
            <a:ext cx="781812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3428999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Internet Gateway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13047"/>
            <a:ext cx="2880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858767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route.tf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3813047"/>
            <a:ext cx="7818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3858767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Custom route table, default route, subnet associations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42815"/>
            <a:ext cx="288036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288535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sg.tf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4242815"/>
            <a:ext cx="781812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288535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Web security group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672583"/>
            <a:ext cx="2880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718303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ec2.tf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11880" y="4672583"/>
            <a:ext cx="7818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39" y="4718303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Ubuntu EC2 instance + user_data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02351"/>
            <a:ext cx="288036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14807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app.sh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5102351"/>
            <a:ext cx="7818120" cy="393192"/>
          </a:xfrm>
          <a:prstGeom prst="rect">
            <a:avLst/>
          </a:prstGeom>
          <a:solidFill>
            <a:srgbClr val="EFF3F8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148071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EC2 startup/bootstrap script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19"/>
            <a:ext cx="2880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577839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142746"/>
                </a:solidFill>
              </a:rPr>
              <a:t>outputs.tf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5532119"/>
            <a:ext cx="7818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5577839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B36"/>
                </a:solidFill>
              </a:rPr>
              <a:t>VPC, IGW, AMI and EC2 results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42746"/>
                </a:solidFill>
              </a:rPr>
              <a:t>TERRAFORM →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46B4"/>
                </a:solidFill>
              </a:rPr>
              <a:t>Define • Plan • Apply • Verify • Iterate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063240"/>
            <a:ext cx="2423160" cy="73152"/>
          </a:xfrm>
          <a:prstGeom prst="rect">
            <a:avLst/>
          </a:prstGeom>
          <a:solidFill>
            <a:srgbClr val="66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209544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6646B4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630168"/>
            <a:ext cx="2057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Variables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Locals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Data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3063240"/>
            <a:ext cx="2423160" cy="73152"/>
          </a:xfrm>
          <a:prstGeom prst="rect">
            <a:avLst/>
          </a:prstGeom>
          <a:solidFill>
            <a:srgbClr val="39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3209544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9874E"/>
                </a:solidFill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630168"/>
            <a:ext cx="2057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VPC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Subnets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063240"/>
            <a:ext cx="2423160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3209544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07A28"/>
                </a:solidFill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630168"/>
            <a:ext cx="2057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EC2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Security Group</a:t>
            </a:r>
          </a:p>
          <a:p>
            <a:pPr>
              <a:spcAft>
                <a:spcPts val="600"/>
              </a:spcAft>
              <a:defRPr sz="1400">
                <a:solidFill>
                  <a:srgbClr val="232B36"/>
                </a:solidFill>
              </a:defRPr>
            </a:pPr>
            <a:r>
              <a:t>User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7492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32B36"/>
                </a:solidFill>
              </a:rPr>
              <a:t>This example demonstrates the core Terraform pattern: inputs → resources → dependencies → outputs.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6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