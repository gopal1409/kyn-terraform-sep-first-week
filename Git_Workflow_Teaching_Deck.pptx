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937"/>
                </a:solidFill>
              </a:defRPr>
            </a:pPr>
            <a:r>
              <a:t>Git Workflow: From Local Changes to Team Collaboration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1440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B7280"/>
                </a:solidFill>
              </a:defRPr>
            </a:pPr>
            <a:r>
              <a:t>Teaching deck • Git fundamentals, global configuration, repositories, commits, branches, and practical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2103120" cy="914400"/>
          </a:xfrm>
          <a:prstGeom prst="roundRect">
            <a:avLst/>
          </a:prstGeom>
          <a:solidFill>
            <a:srgbClr val="F3F6FA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2057400"/>
            <a:ext cx="1956815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F2937"/>
                </a:solidFill>
              </a:defRPr>
            </a:pPr>
            <a:r>
              <a:t>WORKING DIRECTORY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926080" y="2468880"/>
            <a:ext cx="822959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749039" y="2011680"/>
            <a:ext cx="2103120" cy="914400"/>
          </a:xfrm>
          <a:prstGeom prst="roundRect">
            <a:avLst/>
          </a:prstGeom>
          <a:solidFill>
            <a:srgbClr val="F3F6FA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22191" y="2057400"/>
            <a:ext cx="1956815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F2937"/>
                </a:solidFill>
              </a:defRPr>
            </a:pPr>
            <a:r>
              <a:t>STAGING AREA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43600" y="2468880"/>
            <a:ext cx="822960" cy="0"/>
          </a:xfrm>
          <a:prstGeom prst="line">
            <a:avLst/>
          </a:prstGeom>
          <a:ln w="25400">
            <a:solidFill>
              <a:srgbClr val="EA58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766560" y="2011680"/>
            <a:ext cx="2286000" cy="914400"/>
          </a:xfrm>
          <a:prstGeom prst="roundRect">
            <a:avLst/>
          </a:prstGeom>
          <a:solidFill>
            <a:srgbClr val="F3F6F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39712" y="2057400"/>
            <a:ext cx="2139696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F2937"/>
                </a:solidFill>
              </a:defRPr>
            </a:pPr>
            <a:r>
              <a:t>LOCAL REPOSITORY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144000" y="2468880"/>
            <a:ext cx="914400" cy="0"/>
          </a:xfrm>
          <a:prstGeom prst="line">
            <a:avLst/>
          </a:prstGeom>
          <a:ln w="2540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10058400" y="2011680"/>
            <a:ext cx="1371600" cy="914400"/>
          </a:xfrm>
          <a:prstGeom prst="roundRect">
            <a:avLst/>
          </a:prstGeom>
          <a:solidFill>
            <a:srgbClr val="F3F6FA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131552" y="2057400"/>
            <a:ext cx="1225296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F2937"/>
                </a:solidFill>
              </a:defRPr>
            </a:pPr>
            <a:r>
              <a:t>REMOTE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840480"/>
            <a:ext cx="10241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Core commands: git config • git init • git status • git add • git commit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Branching: git branch • git switch • git merge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Outcome: predictable, reviewable, recoverable changes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81360" y="649224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937"/>
                </a:solidFill>
              </a:defRPr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100584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F2937"/>
                </a:solidFill>
              </a:defRPr>
            </a:pPr>
            <a:r>
              <a:t>Explain Git’s three local areas: working directory, staging area, repository</a:t>
            </a:r>
          </a:p>
          <a:p>
            <a:pPr>
              <a:spcAft>
                <a:spcPts val="800"/>
              </a:spcAft>
              <a:defRPr sz="2000">
                <a:solidFill>
                  <a:srgbClr val="1F2937"/>
                </a:solidFill>
              </a:defRPr>
            </a:pPr>
            <a:r>
              <a:t>Configure identity and defaults with global variables</a:t>
            </a:r>
          </a:p>
          <a:p>
            <a:pPr>
              <a:spcAft>
                <a:spcPts val="800"/>
              </a:spcAft>
              <a:defRPr sz="2000">
                <a:solidFill>
                  <a:srgbClr val="1F2937"/>
                </a:solidFill>
              </a:defRPr>
            </a:pPr>
            <a:r>
              <a:t>Create a repository and track files with git init, git add, and git commit</a:t>
            </a:r>
          </a:p>
          <a:p>
            <a:pPr>
              <a:spcAft>
                <a:spcPts val="800"/>
              </a:spcAft>
              <a:defRPr sz="2000">
                <a:solidFill>
                  <a:srgbClr val="1F2937"/>
                </a:solidFill>
              </a:defRPr>
            </a:pPr>
            <a:r>
              <a:t>Read commit history and understand HEAD</a:t>
            </a:r>
          </a:p>
          <a:p>
            <a:pPr>
              <a:spcAft>
                <a:spcPts val="800"/>
              </a:spcAft>
              <a:defRPr sz="2000">
                <a:solidFill>
                  <a:srgbClr val="1F2937"/>
                </a:solidFill>
              </a:defRPr>
            </a:pPr>
            <a:r>
              <a:t>Create, switch, compare, and merge branches</a:t>
            </a:r>
          </a:p>
          <a:p>
            <a:pPr>
              <a:spcAft>
                <a:spcPts val="800"/>
              </a:spcAft>
              <a:defRPr sz="2000">
                <a:solidFill>
                  <a:srgbClr val="1F2937"/>
                </a:solidFill>
              </a:defRPr>
            </a:pPr>
            <a:r>
              <a:t>Apply a clean day-to-day Git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9224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937"/>
                </a:solidFill>
              </a:defRPr>
            </a:pPr>
            <a:r>
              <a:t>What Is Git?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577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Git is a distributed version control system.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Every clone contains the project history locally.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Git records snapshots as commits rather than storing only file differences.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Branches are lightweight movable references to commits.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Git enables experimentation without losing the stable line of work.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766560" y="1828800"/>
            <a:ext cx="1371600" cy="731520"/>
          </a:xfrm>
          <a:prstGeom prst="roundRect">
            <a:avLst/>
          </a:prstGeom>
          <a:solidFill>
            <a:srgbClr val="F3F6FA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39712" y="1874519"/>
            <a:ext cx="1225296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F2937"/>
                </a:solidFill>
              </a:defRPr>
            </a:pPr>
            <a:r>
              <a:t>COMMIT C1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03920" y="1828800"/>
            <a:ext cx="1371600" cy="731520"/>
          </a:xfrm>
          <a:prstGeom prst="roundRect">
            <a:avLst/>
          </a:prstGeom>
          <a:solidFill>
            <a:srgbClr val="F3F6F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77072" y="1874519"/>
            <a:ext cx="1225296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F2937"/>
                </a:solidFill>
              </a:defRPr>
            </a:pPr>
            <a:r>
              <a:t>COMMIT C2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241280" y="1828800"/>
            <a:ext cx="1371600" cy="731520"/>
          </a:xfrm>
          <a:prstGeom prst="roundRect">
            <a:avLst/>
          </a:prstGeom>
          <a:solidFill>
            <a:srgbClr val="F3F6FA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14432" y="1874519"/>
            <a:ext cx="1225296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F2937"/>
                </a:solidFill>
              </a:defRPr>
            </a:pPr>
            <a:r>
              <a:t>COMMIT C3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138160" y="2194560"/>
            <a:ext cx="365760" cy="0"/>
          </a:xfrm>
          <a:prstGeom prst="line">
            <a:avLst/>
          </a:prstGeom>
          <a:ln w="254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875520" y="2194560"/>
            <a:ext cx="365760" cy="0"/>
          </a:xfrm>
          <a:prstGeom prst="line">
            <a:avLst/>
          </a:prstGeom>
          <a:ln w="254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229600" y="3017520"/>
            <a:ext cx="192024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02752" y="3063239"/>
            <a:ext cx="1773936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1F2937"/>
                </a:solidFill>
              </a:defRPr>
            </a:pPr>
            <a:r>
              <a:t>main → C3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9224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937"/>
                </a:solidFill>
              </a:defRPr>
            </a:pPr>
            <a:r>
              <a:t>Git’s Three Local Areas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1440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B7280"/>
                </a:solidFill>
              </a:defRPr>
            </a:pPr>
            <a:r>
              <a:t>The mental model that makes add and commit easy to understand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2926080" cy="1280160"/>
          </a:xfrm>
          <a:prstGeom prst="roundRect">
            <a:avLst/>
          </a:prstGeom>
          <a:solidFill>
            <a:srgbClr val="F3F6FA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1874519"/>
            <a:ext cx="2779776" cy="118871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1F2937"/>
                </a:solidFill>
              </a:defRPr>
            </a:pPr>
            <a:r>
              <a:t>Working Directory</a:t>
            </a:r>
            <a:br/>
            <a:r>
              <a:t>Edit / create files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57600" y="2468880"/>
            <a:ext cx="914400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572000" y="1828800"/>
            <a:ext cx="2926080" cy="1280160"/>
          </a:xfrm>
          <a:prstGeom prst="roundRect">
            <a:avLst/>
          </a:prstGeom>
          <a:solidFill>
            <a:srgbClr val="F3F6FA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45152" y="1874519"/>
            <a:ext cx="2779776" cy="118871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1F2937"/>
                </a:solidFill>
              </a:defRPr>
            </a:pPr>
            <a:r>
              <a:t>Staging Area</a:t>
            </a:r>
            <a:br/>
            <a:r>
              <a:t>Selected changes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498079" y="2468880"/>
            <a:ext cx="914401" cy="0"/>
          </a:xfrm>
          <a:prstGeom prst="line">
            <a:avLst/>
          </a:prstGeom>
          <a:ln w="25400">
            <a:solidFill>
              <a:srgbClr val="EA58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412480" y="1828800"/>
            <a:ext cx="2926080" cy="1280160"/>
          </a:xfrm>
          <a:prstGeom prst="roundRect">
            <a:avLst/>
          </a:prstGeom>
          <a:solidFill>
            <a:srgbClr val="F3F6F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85632" y="1874519"/>
            <a:ext cx="2779776" cy="118871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1F2937"/>
                </a:solidFill>
              </a:defRPr>
            </a:pPr>
            <a:r>
              <a:t>Repository</a:t>
            </a:r>
            <a:br/>
            <a:r>
              <a:t>Committed snapshots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88720" y="3840480"/>
            <a:ext cx="9784080" cy="1554480"/>
          </a:xfrm>
          <a:prstGeom prst="roundRect">
            <a:avLst/>
          </a:prstGeom>
          <a:solidFill>
            <a:srgbClr val="1F293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53312" y="3950208"/>
            <a:ext cx="9454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FFFFFF"/>
                </a:solidFill>
                <a:latin typeface="Consolas"/>
              </a:defRPr>
            </a:pPr>
            <a:r>
              <a:t>git add file.txt</a:t>
            </a:r>
            <a:br/>
            <a:r>
              <a:t># working directory → staging</a:t>
            </a:r>
            <a:br/>
            <a:br/>
            <a:r>
              <a:t>git commit -m "Add file"</a:t>
            </a:r>
            <a:br/>
            <a:r>
              <a:t># staging → repository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9224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937"/>
                </a:solidFill>
              </a:defRPr>
            </a:pPr>
            <a:r>
              <a:t>Git Global Variables / Configuration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1440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B7280"/>
                </a:solidFill>
              </a:defRPr>
            </a:pPr>
            <a:r>
              <a:t>Global configuration applies to your user account on the machine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5760720" cy="3931920"/>
          </a:xfrm>
          <a:prstGeom prst="roundRect">
            <a:avLst/>
          </a:prstGeom>
          <a:solidFill>
            <a:srgbClr val="1F293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1" y="1481328"/>
            <a:ext cx="5431536" cy="37124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Consolas"/>
              </a:defRPr>
            </a:pPr>
            <a:r>
              <a:t>git config --global user.name "Gopal Das"</a:t>
            </a:r>
            <a:br/>
            <a:r>
              <a:t>git config --global user.email "you@example.com"</a:t>
            </a:r>
            <a:br/>
            <a:br/>
            <a:r>
              <a:t>git config --global init.defaultBranch main</a:t>
            </a:r>
            <a:br/>
            <a:r>
              <a:t>git config --global core.editor "code --wait"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0" y="1463040"/>
            <a:ext cx="4663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F2937"/>
                </a:solidFill>
              </a:defRPr>
            </a:pPr>
            <a:r>
              <a:t>View all global settings: git config --global --list</a:t>
            </a:r>
          </a:p>
          <a:p>
            <a:pPr>
              <a:spcAft>
                <a:spcPts val="800"/>
              </a:spcAft>
              <a:defRPr sz="1700">
                <a:solidFill>
                  <a:srgbClr val="1F2937"/>
                </a:solidFill>
              </a:defRPr>
            </a:pPr>
            <a:r>
              <a:t>View one value: git config --global user.name</a:t>
            </a:r>
          </a:p>
          <a:p>
            <a:pPr>
              <a:spcAft>
                <a:spcPts val="800"/>
              </a:spcAft>
              <a:defRPr sz="1700">
                <a:solidFill>
                  <a:srgbClr val="1F2937"/>
                </a:solidFill>
              </a:defRPr>
            </a:pPr>
            <a:r>
              <a:t>Local repository settings override global settings.</a:t>
            </a:r>
          </a:p>
          <a:p>
            <a:pPr>
              <a:spcAft>
                <a:spcPts val="800"/>
              </a:spcAft>
              <a:defRPr sz="1700">
                <a:solidFill>
                  <a:srgbClr val="1F2937"/>
                </a:solidFill>
              </a:defRPr>
            </a:pPr>
            <a:r>
              <a:t>Identity is stored in Git configuration and is recorded in commits.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9224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937"/>
                </a:solidFill>
              </a:defRPr>
            </a:pPr>
            <a:r>
              <a:t>Configuration Levels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1440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B7280"/>
                </a:solidFill>
              </a:defRPr>
            </a:pPr>
            <a:r>
              <a:t>Understand which setting wins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2468880" cy="914400"/>
          </a:xfrm>
          <a:prstGeom prst="roundRect">
            <a:avLst/>
          </a:prstGeom>
          <a:solidFill>
            <a:srgbClr val="F3F6FA"/>
          </a:solidFill>
          <a:ln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1874519"/>
            <a:ext cx="2322576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F2937"/>
                </a:solidFill>
              </a:defRPr>
            </a:pPr>
            <a:r>
              <a:t>System</a:t>
            </a:r>
            <a:br/>
            <a:r>
              <a:t>All users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383280" y="2286000"/>
            <a:ext cx="914400" cy="0"/>
          </a:xfrm>
          <a:prstGeom prst="line">
            <a:avLst/>
          </a:prstGeom>
          <a:ln w="254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297680" y="1828800"/>
            <a:ext cx="2468880" cy="914400"/>
          </a:xfrm>
          <a:prstGeom prst="roundRect">
            <a:avLst/>
          </a:prstGeom>
          <a:solidFill>
            <a:srgbClr val="F3F6FA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70832" y="1874519"/>
            <a:ext cx="2322576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F2937"/>
                </a:solidFill>
              </a:defRPr>
            </a:pPr>
            <a:r>
              <a:t>Global</a:t>
            </a:r>
            <a:br/>
            <a:r>
              <a:t>Your user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766560" y="2286000"/>
            <a:ext cx="914400" cy="0"/>
          </a:xfrm>
          <a:prstGeom prst="line">
            <a:avLst/>
          </a:prstGeom>
          <a:ln w="254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680960" y="1828800"/>
            <a:ext cx="2468880" cy="914400"/>
          </a:xfrm>
          <a:prstGeom prst="roundRect">
            <a:avLst/>
          </a:prstGeom>
          <a:solidFill>
            <a:srgbClr val="F3F6F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54112" y="1874519"/>
            <a:ext cx="2322576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F2937"/>
                </a:solidFill>
              </a:defRPr>
            </a:pPr>
            <a:r>
              <a:t>Local</a:t>
            </a:r>
            <a:br/>
            <a:r>
              <a:t>One repository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79" y="3017520"/>
            <a:ext cx="192024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28431" y="3063239"/>
            <a:ext cx="1773936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F2937"/>
                </a:solidFill>
              </a:defRPr>
            </a:pPr>
            <a:r>
              <a:t>Highest priority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88720" y="4023360"/>
            <a:ext cx="9784080" cy="1463040"/>
          </a:xfrm>
          <a:prstGeom prst="roundRect">
            <a:avLst/>
          </a:prstGeom>
          <a:solidFill>
            <a:srgbClr val="1F293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53312" y="4133088"/>
            <a:ext cx="9454896" cy="1243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Consolas"/>
              </a:defRPr>
            </a:pPr>
            <a:r>
              <a:t>git config --system ...</a:t>
            </a:r>
            <a:br/>
            <a:r>
              <a:t>git config --global ...</a:t>
            </a:r>
            <a:br/>
            <a:r>
              <a:t>git config --local ...   # default scope inside a repo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81360" y="649224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937"/>
                </a:solidFill>
              </a:defRPr>
            </a:pPr>
            <a:r>
              <a:t>Create a Repository with git init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394960" cy="4114800"/>
          </a:xfrm>
          <a:prstGeom prst="roundRect">
            <a:avLst/>
          </a:prstGeom>
          <a:solidFill>
            <a:srgbClr val="1F293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1481328"/>
            <a:ext cx="5065776" cy="3895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FFFFFF"/>
                </a:solidFill>
                <a:latin typeface="Consolas"/>
              </a:defRPr>
            </a:pPr>
            <a:r>
              <a:t>mkdir my-project</a:t>
            </a:r>
            <a:br/>
            <a:r>
              <a:t>cd my-project</a:t>
            </a:r>
            <a:br/>
            <a:br/>
            <a:r>
              <a:t>git init</a:t>
            </a:r>
            <a:br/>
            <a:br/>
            <a:r>
              <a:t># inspect</a:t>
            </a:r>
            <a:br/>
            <a:r>
              <a:t>git status</a:t>
            </a:r>
            <a:br/>
            <a:r>
              <a:t>ls -la   # .git directory appears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0" y="1371600"/>
            <a:ext cx="2926080" cy="640080"/>
          </a:xfrm>
          <a:prstGeom prst="roundRect">
            <a:avLst/>
          </a:prstGeom>
          <a:solidFill>
            <a:srgbClr val="F3F6FA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31152" y="1417320"/>
            <a:ext cx="2779776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1F2937"/>
                </a:solidFill>
              </a:defRPr>
            </a:pPr>
            <a:r>
              <a:t>my-project/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23760" y="2286000"/>
            <a:ext cx="219456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96912" y="2331720"/>
            <a:ext cx="2048255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1F2937"/>
                </a:solidFill>
              </a:defRPr>
            </a:pPr>
            <a:r>
              <a:t>app.py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23760" y="3108960"/>
            <a:ext cx="219456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96912" y="3154679"/>
            <a:ext cx="2048255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1F2937"/>
                </a:solidFill>
              </a:defRPr>
            </a:pPr>
            <a:r>
              <a:t>README.md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4023360"/>
            <a:ext cx="2926080" cy="1097280"/>
          </a:xfrm>
          <a:prstGeom prst="roundRect">
            <a:avLst/>
          </a:prstGeom>
          <a:solidFill>
            <a:srgbClr val="F3F6F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31152" y="4069080"/>
            <a:ext cx="2779776" cy="10058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F2937"/>
                </a:solidFill>
              </a:defRPr>
            </a:pPr>
            <a:r>
              <a:t>.git/</a:t>
            </a:r>
            <a:br/>
            <a:r>
              <a:t>Git metadata + objects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539496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</a:defRPr>
            </a:pPr>
            <a:r>
              <a:t>git init creates the .git directory and initializes repository metadata.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</a:defRPr>
            </a:pPr>
            <a:r>
              <a:t>It does not automatically commit your files.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9224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937"/>
                </a:solidFill>
              </a:defRPr>
            </a:pPr>
            <a:r>
              <a:t>git status: Your Most Useful Diagnostic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486400" cy="3840480"/>
          </a:xfrm>
          <a:prstGeom prst="roundRect">
            <a:avLst/>
          </a:prstGeom>
          <a:solidFill>
            <a:srgbClr val="1F293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1572768"/>
            <a:ext cx="5157216" cy="3621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Consolas"/>
              </a:defRPr>
            </a:pPr>
            <a:r>
              <a:t>git status</a:t>
            </a:r>
            <a:br/>
            <a:br/>
            <a:r>
              <a:t># Typical questions answered:</a:t>
            </a:r>
            <a:br/>
            <a:r>
              <a:t># What changed?</a:t>
            </a:r>
            <a:br/>
            <a:r>
              <a:t># What is staged?</a:t>
            </a:r>
            <a:br/>
            <a:r>
              <a:t># What is untracked?</a:t>
            </a:r>
            <a:br/>
            <a:r>
              <a:t># What branch am I on?</a:t>
            </a:r>
            <a:br/>
            <a:r>
              <a:t># Is the branch ahead/behind?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0" y="1554480"/>
            <a:ext cx="4572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F2937"/>
                </a:solidFill>
              </a:defRPr>
            </a:pPr>
            <a:r>
              <a:t>Use status frequently—before add, before commit, and when troubleshooting.</a:t>
            </a:r>
          </a:p>
          <a:p>
            <a:pPr>
              <a:spcAft>
                <a:spcPts val="800"/>
              </a:spcAft>
              <a:defRPr sz="1700">
                <a:solidFill>
                  <a:srgbClr val="1F2937"/>
                </a:solidFill>
              </a:defRPr>
            </a:pPr>
            <a:r>
              <a:t>Untracked files are not yet part of the next commit.</a:t>
            </a:r>
          </a:p>
          <a:p>
            <a:pPr>
              <a:spcAft>
                <a:spcPts val="800"/>
              </a:spcAft>
              <a:defRPr sz="1700">
                <a:solidFill>
                  <a:srgbClr val="1F2937"/>
                </a:solidFill>
              </a:defRPr>
            </a:pPr>
            <a:r>
              <a:t>Modified files can exist in the working directory without being staged.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9224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937"/>
                </a:solidFill>
              </a:defRPr>
            </a:pPr>
            <a:r>
              <a:t>git add: Build the Next Snapshot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828800"/>
            <a:ext cx="1828800" cy="822960"/>
          </a:xfrm>
          <a:prstGeom prst="roundRect">
            <a:avLst/>
          </a:prstGeom>
          <a:solidFill>
            <a:srgbClr val="F3F6FA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1" y="1874519"/>
            <a:ext cx="1682496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F2937"/>
                </a:solidFill>
              </a:defRPr>
            </a:pPr>
            <a:r>
              <a:t>Edit file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468880" y="2240280"/>
            <a:ext cx="731520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200400" y="1828800"/>
            <a:ext cx="1828800" cy="822960"/>
          </a:xfrm>
          <a:prstGeom prst="roundRect">
            <a:avLst/>
          </a:prstGeom>
          <a:solidFill>
            <a:srgbClr val="F3F6FA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73552" y="1874519"/>
            <a:ext cx="1682496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F2937"/>
                </a:solidFill>
              </a:defRPr>
            </a:pPr>
            <a:r>
              <a:t>git add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0" y="2240280"/>
            <a:ext cx="731520" cy="0"/>
          </a:xfrm>
          <a:prstGeom prst="line">
            <a:avLst/>
          </a:prstGeom>
          <a:ln w="25400">
            <a:solidFill>
              <a:srgbClr val="EA58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760720" y="1828800"/>
            <a:ext cx="2011680" cy="822960"/>
          </a:xfrm>
          <a:prstGeom prst="roundRect">
            <a:avLst/>
          </a:prstGeom>
          <a:solidFill>
            <a:srgbClr val="F3F6F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33872" y="1874519"/>
            <a:ext cx="1865376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F2937"/>
                </a:solidFill>
              </a:defRPr>
            </a:pPr>
            <a:r>
              <a:t>Staged change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0" y="2240280"/>
            <a:ext cx="731520" cy="0"/>
          </a:xfrm>
          <a:prstGeom prst="line">
            <a:avLst/>
          </a:prstGeom>
          <a:ln w="2540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503920" y="1828800"/>
            <a:ext cx="1828800" cy="822960"/>
          </a:xfrm>
          <a:prstGeom prst="roundRect">
            <a:avLst/>
          </a:prstGeom>
          <a:solidFill>
            <a:srgbClr val="F3F6FA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77072" y="1874519"/>
            <a:ext cx="1682496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F2937"/>
                </a:solidFill>
              </a:defRPr>
            </a:pPr>
            <a:r>
              <a:t>git commit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291840"/>
            <a:ext cx="10058400" cy="2011680"/>
          </a:xfrm>
          <a:prstGeom prst="roundRect">
            <a:avLst/>
          </a:prstGeom>
          <a:solidFill>
            <a:srgbClr val="1F293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3401568"/>
            <a:ext cx="9729216" cy="1792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Consolas"/>
              </a:defRPr>
            </a:pPr>
            <a:r>
              <a:t>git add README.md</a:t>
            </a:r>
            <a:br/>
            <a:r>
              <a:t>git add app.py</a:t>
            </a:r>
            <a:br/>
            <a:br/>
            <a:r>
              <a:t># stage all changes in current directory</a:t>
            </a:r>
            <a:br/>
            <a:r>
              <a:t>git add .</a:t>
            </a:r>
            <a:br/>
            <a:br/>
            <a:r>
              <a:t># inspect staged vs unstaged</a:t>
            </a:r>
            <a:br/>
            <a:r>
              <a:t>git diff</a:t>
            </a:r>
            <a:br/>
            <a:r>
              <a:t>git diff --staged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81360" y="649224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937"/>
                </a:solidFill>
              </a:defRPr>
            </a:pPr>
            <a:r>
              <a:t>git commit: Save a Versioned Snapshot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577840" cy="4206240"/>
          </a:xfrm>
          <a:prstGeom prst="roundRect">
            <a:avLst/>
          </a:prstGeom>
          <a:solidFill>
            <a:srgbClr val="1F293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1481328"/>
            <a:ext cx="5248655" cy="39867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Consolas"/>
              </a:defRPr>
            </a:pPr>
            <a:r>
              <a:t>git commit -m "Add initial application"</a:t>
            </a:r>
            <a:br/>
            <a:br/>
            <a:r>
              <a:t>git log --oneline --decorate</a:t>
            </a:r>
            <a:br/>
            <a:br/>
            <a:r>
              <a:t># useful inspection</a:t>
            </a:r>
            <a:br/>
            <a:r>
              <a:t>git show &lt;commit&gt;</a:t>
            </a:r>
            <a:br/>
            <a:r>
              <a:t>git diff HEAD~1 HEAD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040880" y="1828800"/>
            <a:ext cx="1280160" cy="731520"/>
          </a:xfrm>
          <a:prstGeom prst="roundRect">
            <a:avLst/>
          </a:prstGeom>
          <a:solidFill>
            <a:srgbClr val="F3F6FA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14032" y="1874519"/>
            <a:ext cx="1133856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F2937"/>
                </a:solidFill>
              </a:defRPr>
            </a:pPr>
            <a:r>
              <a:t>C1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0" y="1828800"/>
            <a:ext cx="1280160" cy="731520"/>
          </a:xfrm>
          <a:prstGeom prst="roundRect">
            <a:avLst/>
          </a:prstGeom>
          <a:solidFill>
            <a:srgbClr val="F3F6F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59952" y="1874519"/>
            <a:ext cx="1133856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F2937"/>
                </a:solidFill>
              </a:defRPr>
            </a:pPr>
            <a:r>
              <a:t>C2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1828800"/>
            <a:ext cx="128016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01952" y="1874519"/>
            <a:ext cx="1133856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F2937"/>
                </a:solidFill>
              </a:defRPr>
            </a:pPr>
            <a:r>
              <a:t>C3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321040" y="2194560"/>
            <a:ext cx="365760" cy="0"/>
          </a:xfrm>
          <a:prstGeom prst="line">
            <a:avLst/>
          </a:prstGeom>
          <a:ln w="254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675120" y="2194560"/>
            <a:ext cx="365760" cy="0"/>
          </a:xfrm>
          <a:prstGeom prst="line">
            <a:avLst/>
          </a:prstGeom>
          <a:ln w="254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675120" y="3017520"/>
            <a:ext cx="20116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48272" y="3063239"/>
            <a:ext cx="1865376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1F2937"/>
                </a:solidFill>
              </a:defRPr>
            </a:pPr>
            <a:r>
              <a:t>HEAD → C3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114800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Good commit: focused change + clear message.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</a:defRPr>
            </a:pPr>
            <a:r>
              <a:t>Avoid giant commits that mix unrelated work.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81360" y="649224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937"/>
                </a:solidFill>
              </a:defRPr>
            </a:pPr>
            <a:r>
              <a:t>The Complete Basic Workflow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828800"/>
            <a:ext cx="1554480" cy="1097280"/>
          </a:xfrm>
          <a:prstGeom prst="roundRect">
            <a:avLst/>
          </a:prstGeom>
          <a:solidFill>
            <a:srgbClr val="F3F6FA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1" y="1874519"/>
            <a:ext cx="1408176" cy="10058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F2937"/>
                </a:solidFill>
              </a:defRPr>
            </a:pPr>
            <a:r>
              <a:t>1</a:t>
            </a:r>
            <a:br/>
            <a:r>
              <a:t>Edit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194560" y="2377440"/>
            <a:ext cx="274320" cy="0"/>
          </a:xfrm>
          <a:prstGeom prst="line">
            <a:avLst/>
          </a:prstGeom>
          <a:ln w="254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514600" y="1828800"/>
            <a:ext cx="1554480" cy="1097280"/>
          </a:xfrm>
          <a:prstGeom prst="roundRect">
            <a:avLst/>
          </a:prstGeom>
          <a:solidFill>
            <a:srgbClr val="F3F6FA"/>
          </a:solidFill>
          <a:ln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87752" y="1874519"/>
            <a:ext cx="1408176" cy="10058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F2937"/>
                </a:solidFill>
              </a:defRPr>
            </a:pPr>
            <a:r>
              <a:t>2</a:t>
            </a:r>
            <a:br/>
            <a:r>
              <a:t>status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069080" y="2377440"/>
            <a:ext cx="274320" cy="0"/>
          </a:xfrm>
          <a:prstGeom prst="line">
            <a:avLst/>
          </a:prstGeom>
          <a:ln w="254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389120" y="1828800"/>
            <a:ext cx="1554480" cy="1097280"/>
          </a:xfrm>
          <a:prstGeom prst="roundRect">
            <a:avLst/>
          </a:prstGeom>
          <a:solidFill>
            <a:srgbClr val="F3F6FA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62272" y="1874519"/>
            <a:ext cx="1408176" cy="10058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F2937"/>
                </a:solidFill>
              </a:defRPr>
            </a:pPr>
            <a:r>
              <a:t>3</a:t>
            </a:r>
            <a:br/>
            <a:r>
              <a:t>add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943600" y="2377440"/>
            <a:ext cx="274320" cy="0"/>
          </a:xfrm>
          <a:prstGeom prst="line">
            <a:avLst/>
          </a:prstGeom>
          <a:ln w="254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263640" y="1828800"/>
            <a:ext cx="1554480" cy="1097280"/>
          </a:xfrm>
          <a:prstGeom prst="roundRect">
            <a:avLst/>
          </a:prstGeom>
          <a:solidFill>
            <a:srgbClr val="F3F6FA"/>
          </a:solidFill>
          <a:ln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36792" y="1874519"/>
            <a:ext cx="1408176" cy="10058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F2937"/>
                </a:solidFill>
              </a:defRPr>
            </a:pPr>
            <a:r>
              <a:t>4</a:t>
            </a:r>
            <a:br/>
            <a:r>
              <a:t>status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818119" y="2377440"/>
            <a:ext cx="274321" cy="0"/>
          </a:xfrm>
          <a:prstGeom prst="line">
            <a:avLst/>
          </a:prstGeom>
          <a:ln w="254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138159" y="1828800"/>
            <a:ext cx="1554480" cy="1097280"/>
          </a:xfrm>
          <a:prstGeom prst="roundRect">
            <a:avLst/>
          </a:prstGeom>
          <a:solidFill>
            <a:srgbClr val="F3F6F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1311" y="1874519"/>
            <a:ext cx="1408176" cy="10058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F2937"/>
                </a:solidFill>
              </a:defRPr>
            </a:pPr>
            <a:r>
              <a:t>5</a:t>
            </a:r>
            <a:br/>
            <a:r>
              <a:t>commit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692639" y="2377440"/>
            <a:ext cx="274320" cy="0"/>
          </a:xfrm>
          <a:prstGeom prst="line">
            <a:avLst/>
          </a:prstGeom>
          <a:ln w="254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10012680" y="1828800"/>
            <a:ext cx="1554480" cy="1097280"/>
          </a:xfrm>
          <a:prstGeom prst="roundRect">
            <a:avLst/>
          </a:prstGeom>
          <a:solidFill>
            <a:srgbClr val="F3F6FA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85832" y="1874519"/>
            <a:ext cx="1408176" cy="10058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F2937"/>
                </a:solidFill>
              </a:defRPr>
            </a:pPr>
            <a:r>
              <a:t>6</a:t>
            </a:r>
            <a:br/>
            <a:r>
              <a:t>log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3840480"/>
            <a:ext cx="10058400" cy="1097280"/>
          </a:xfrm>
          <a:prstGeom prst="roundRect">
            <a:avLst/>
          </a:prstGeom>
          <a:solidFill>
            <a:srgbClr val="1F293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78992" y="3950208"/>
            <a:ext cx="9729216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FFFFFF"/>
                </a:solidFill>
                <a:latin typeface="Consolas"/>
              </a:defRPr>
            </a:pPr>
            <a:r>
              <a:t>edit → git status → git add &lt;file&gt; → git status → git commit -m "message" → git log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81360" y="649224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937"/>
                </a:solidFill>
              </a:defRPr>
            </a:pPr>
            <a:r>
              <a:t>Branching: Work in Parallel Without Losing Main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1463040" cy="640080"/>
          </a:xfrm>
          <a:prstGeom prst="roundRect">
            <a:avLst/>
          </a:prstGeom>
          <a:solidFill>
            <a:srgbClr val="F3F6FA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874519"/>
            <a:ext cx="1316736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F2937"/>
                </a:solidFill>
              </a:defRPr>
            </a:pPr>
            <a:r>
              <a:t>main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1828800"/>
            <a:ext cx="118872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999232" y="1874519"/>
            <a:ext cx="1042416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F2937"/>
                </a:solidFill>
              </a:defRPr>
            </a:pPr>
            <a:r>
              <a:t>C1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1828800"/>
            <a:ext cx="118872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45152" y="1874519"/>
            <a:ext cx="1042416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F2937"/>
                </a:solidFill>
              </a:defRPr>
            </a:pPr>
            <a:r>
              <a:t>C2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377440" y="2148840"/>
            <a:ext cx="548640" cy="0"/>
          </a:xfrm>
          <a:prstGeom prst="line">
            <a:avLst/>
          </a:prstGeom>
          <a:ln w="254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114800" y="2148840"/>
            <a:ext cx="457200" cy="0"/>
          </a:xfrm>
          <a:prstGeom prst="line">
            <a:avLst/>
          </a:prstGeom>
          <a:ln w="254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572000" y="3657600"/>
            <a:ext cx="1828800" cy="640080"/>
          </a:xfrm>
          <a:prstGeom prst="roundRect">
            <a:avLst/>
          </a:prstGeom>
          <a:solidFill>
            <a:srgbClr val="F3F6FA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45152" y="3703320"/>
            <a:ext cx="1682496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F2937"/>
                </a:solidFill>
              </a:defRPr>
            </a:pPr>
            <a:r>
              <a:t>feature/login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166360" y="2468880"/>
            <a:ext cx="320040" cy="1188720"/>
          </a:xfrm>
          <a:prstGeom prst="line">
            <a:avLst/>
          </a:prstGeom>
          <a:ln w="25400">
            <a:solidFill>
              <a:srgbClr val="EA58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040880" y="3657600"/>
            <a:ext cx="118872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14032" y="3703320"/>
            <a:ext cx="1042416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F2937"/>
                </a:solidFill>
              </a:defRPr>
            </a:pPr>
            <a:r>
              <a:t>F1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0" y="3657600"/>
            <a:ext cx="118872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59952" y="3703320"/>
            <a:ext cx="1042416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F2937"/>
                </a:solidFill>
              </a:defRPr>
            </a:pPr>
            <a:r>
              <a:t>F2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400800" y="3977639"/>
            <a:ext cx="640080" cy="0"/>
          </a:xfrm>
          <a:prstGeom prst="line">
            <a:avLst/>
          </a:prstGeom>
          <a:ln w="254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229600" y="3977639"/>
            <a:ext cx="457200" cy="0"/>
          </a:xfrm>
          <a:prstGeom prst="line">
            <a:avLst/>
          </a:prstGeom>
          <a:ln w="254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2834640" y="4846320"/>
            <a:ext cx="493776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07792" y="4892040"/>
            <a:ext cx="4791456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1F2937"/>
                </a:solidFill>
              </a:defRPr>
            </a:pPr>
            <a:r>
              <a:t>main → C2</a:t>
            </a:r>
            <a:br/>
            <a:r>
              <a:t>feature → F2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81360" y="649224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937"/>
                </a:solidFill>
              </a:defRPr>
            </a:pPr>
            <a:r>
              <a:t>Branch Commands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486400" cy="4480560"/>
          </a:xfrm>
          <a:prstGeom prst="roundRect">
            <a:avLst/>
          </a:prstGeom>
          <a:solidFill>
            <a:srgbClr val="1F293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1481328"/>
            <a:ext cx="5157216" cy="4261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FFFFF"/>
                </a:solidFill>
                <a:latin typeface="Consolas"/>
              </a:defRPr>
            </a:pPr>
            <a:r>
              <a:t># list branches</a:t>
            </a:r>
            <a:br/>
            <a:r>
              <a:t>git branch</a:t>
            </a:r>
            <a:br/>
            <a:br/>
            <a:r>
              <a:t># create a branch</a:t>
            </a:r>
            <a:br/>
            <a:r>
              <a:t>git branch feature/login</a:t>
            </a:r>
            <a:br/>
            <a:br/>
            <a:r>
              <a:t># switch</a:t>
            </a:r>
            <a:br/>
            <a:r>
              <a:t>git switch feature/login</a:t>
            </a:r>
            <a:br/>
            <a:br/>
            <a:r>
              <a:t># create + switch</a:t>
            </a:r>
            <a:br/>
            <a:r>
              <a:t>git switch -c feature/login</a:t>
            </a:r>
            <a:br/>
            <a:br/>
            <a:r>
              <a:t># inspect all refs</a:t>
            </a:r>
            <a:br/>
            <a:r>
              <a:t>git log --oneline --graph --decorate --all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0" y="1554480"/>
            <a:ext cx="46634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F2937"/>
                </a:solidFill>
              </a:defRPr>
            </a:pPr>
            <a:r>
              <a:t>Prefer descriptive branch names: feature/login, bugfix/header, chore/docs</a:t>
            </a:r>
          </a:p>
          <a:p>
            <a:pPr>
              <a:spcAft>
                <a:spcPts val="800"/>
              </a:spcAft>
              <a:defRPr sz="1700">
                <a:solidFill>
                  <a:srgbClr val="1F2937"/>
                </a:solidFill>
              </a:defRPr>
            </a:pPr>
            <a:r>
              <a:t>Keep branches focused and short-lived where possible.</a:t>
            </a:r>
          </a:p>
          <a:p>
            <a:pPr>
              <a:spcAft>
                <a:spcPts val="800"/>
              </a:spcAft>
              <a:defRPr sz="1700">
                <a:solidFill>
                  <a:srgbClr val="1F2937"/>
                </a:solidFill>
              </a:defRPr>
            </a:pPr>
            <a:r>
              <a:t>Always know which branch you are on before editing or committing.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9224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937"/>
                </a:solidFill>
              </a:defRPr>
            </a:pPr>
            <a:r>
              <a:t>Merge a Feature Branch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280160"/>
            <a:ext cx="5669280" cy="4754880"/>
          </a:xfrm>
          <a:prstGeom prst="roundRect">
            <a:avLst/>
          </a:prstGeom>
          <a:solidFill>
            <a:srgbClr val="1F293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1" y="1389888"/>
            <a:ext cx="5340096" cy="4535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FFFFF"/>
                </a:solidFill>
                <a:latin typeface="Consolas"/>
              </a:defRPr>
            </a:pPr>
            <a:r>
              <a:t># finish work on feature branch</a:t>
            </a:r>
            <a:br/>
            <a:r>
              <a:t>git add .</a:t>
            </a:r>
            <a:br/>
            <a:r>
              <a:t>git commit -m "Add login validation"</a:t>
            </a:r>
            <a:br/>
            <a:br/>
            <a:r>
              <a:t># move to target branch</a:t>
            </a:r>
            <a:br/>
            <a:r>
              <a:t>git switch main</a:t>
            </a:r>
            <a:br/>
            <a:br/>
            <a:r>
              <a:t># merge feature</a:t>
            </a:r>
            <a:br/>
            <a:r>
              <a:t>git merge feature/login</a:t>
            </a:r>
            <a:br/>
            <a:br/>
            <a:r>
              <a:t># optionally delete merged branch</a:t>
            </a:r>
            <a:br/>
            <a:r>
              <a:t>git branch -d feature/login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66560" y="1737360"/>
            <a:ext cx="4023360" cy="731520"/>
          </a:xfrm>
          <a:prstGeom prst="roundRect">
            <a:avLst/>
          </a:prstGeom>
          <a:solidFill>
            <a:srgbClr val="F3F6FA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39712" y="1783080"/>
            <a:ext cx="3877056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1F2937"/>
                </a:solidFill>
              </a:defRPr>
            </a:pPr>
            <a:r>
              <a:t>main: C1 ── C2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2743200"/>
            <a:ext cx="4023360" cy="731520"/>
          </a:xfrm>
          <a:prstGeom prst="roundRect">
            <a:avLst/>
          </a:prstGeom>
          <a:solidFill>
            <a:srgbClr val="F3F6FA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39712" y="2788920"/>
            <a:ext cx="3877056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1F2937"/>
                </a:solidFill>
              </a:defRPr>
            </a:pPr>
            <a:r>
              <a:t>feature: C2 ── F1 ── F2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0" y="3931920"/>
            <a:ext cx="2377440" cy="731520"/>
          </a:xfrm>
          <a:prstGeom prst="roundRect">
            <a:avLst/>
          </a:prstGeom>
          <a:solidFill>
            <a:srgbClr val="F3F6F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62672" y="3977639"/>
            <a:ext cx="2231136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1F2937"/>
                </a:solidFill>
              </a:defRPr>
            </a:pPr>
            <a:r>
              <a:t>merge → main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9224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937"/>
                </a:solidFill>
              </a:defRPr>
            </a:pPr>
            <a:r>
              <a:t>Merge Conflicts: What Happens?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A conflict occurs when Git cannot safely combine competing changes.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Git marks the conflicting region in the file.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Resolve the file manually, then stage the resolved file.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Complete the merge with a commit if Git requires one.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0" y="1463040"/>
            <a:ext cx="4846320" cy="3566160"/>
          </a:xfrm>
          <a:prstGeom prst="roundRect">
            <a:avLst/>
          </a:prstGeom>
          <a:solidFill>
            <a:srgbClr val="1F293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748272" y="1572768"/>
            <a:ext cx="4517136" cy="3346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Consolas"/>
              </a:defRPr>
            </a:pPr>
            <a:r>
              <a:t>&lt;&lt;&lt;&lt;&lt;&lt;&lt; HEAD</a:t>
            </a:r>
            <a:br/>
            <a:r>
              <a:t>version from main</a:t>
            </a:r>
            <a:br/>
            <a:r>
              <a:t>=======</a:t>
            </a:r>
            <a:br/>
            <a:r>
              <a:t>version from feature</a:t>
            </a:r>
            <a:br/>
            <a:r>
              <a:t>&gt;&gt;&gt;&gt;&gt;&gt;&gt; feature/login</a:t>
            </a:r>
            <a:br/>
            <a:br/>
            <a:r>
              <a:t># after editing to the desired final version:</a:t>
            </a:r>
            <a:br/>
            <a:r>
              <a:t>git add conflicted-file.txt</a:t>
            </a:r>
            <a:br/>
            <a:r>
              <a:t>git commit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66560" y="5303520"/>
            <a:ext cx="448056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39712" y="5349240"/>
            <a:ext cx="4334256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1F2937"/>
                </a:solidFill>
              </a:defRPr>
            </a:pPr>
            <a:r>
              <a:t>Detect → Resolve → Add → Commit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9224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937"/>
                </a:solidFill>
              </a:defRPr>
            </a:pPr>
            <a:r>
              <a:t>Useful Inspection Commands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371600"/>
            <a:ext cx="3840480" cy="594360"/>
          </a:xfrm>
          <a:prstGeom prst="roundRect">
            <a:avLst/>
          </a:prstGeom>
          <a:solidFill>
            <a:srgbClr val="F3F6FA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1417320"/>
            <a:ext cx="3694176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F2937"/>
                </a:solidFill>
              </a:defRPr>
            </a:pPr>
            <a:r>
              <a:t>git 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0" y="1417320"/>
            <a:ext cx="6126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F2937"/>
                </a:solidFill>
              </a:defRPr>
            </a:pPr>
            <a:r>
              <a:t>Working tree + staging state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21408"/>
            <a:ext cx="3840480" cy="594360"/>
          </a:xfrm>
          <a:prstGeom prst="roundRect">
            <a:avLst/>
          </a:prstGeom>
          <a:solidFill>
            <a:srgbClr val="F3F6FA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2167127"/>
            <a:ext cx="3694176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F2937"/>
                </a:solidFill>
              </a:defRPr>
            </a:pPr>
            <a:r>
              <a:t>git log --oneline --graph --decorate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2167127"/>
            <a:ext cx="6126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F2937"/>
                </a:solidFill>
              </a:defRPr>
            </a:pPr>
            <a:r>
              <a:t>Compact history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871215"/>
            <a:ext cx="3840480" cy="594360"/>
          </a:xfrm>
          <a:prstGeom prst="roundRect">
            <a:avLst/>
          </a:prstGeom>
          <a:solidFill>
            <a:srgbClr val="F3F6FA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916935"/>
            <a:ext cx="3694176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F2937"/>
                </a:solidFill>
              </a:defRPr>
            </a:pPr>
            <a:r>
              <a:t>git diff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2916935"/>
            <a:ext cx="6126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F2937"/>
                </a:solidFill>
              </a:defRPr>
            </a:pPr>
            <a:r>
              <a:t>Unstaged changes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621023"/>
            <a:ext cx="3840480" cy="594360"/>
          </a:xfrm>
          <a:prstGeom prst="roundRect">
            <a:avLst/>
          </a:prstGeom>
          <a:solidFill>
            <a:srgbClr val="F3F6FA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666744"/>
            <a:ext cx="3694176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F2937"/>
                </a:solidFill>
              </a:defRPr>
            </a:pPr>
            <a:r>
              <a:t>git diff --staged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3666744"/>
            <a:ext cx="6126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F2937"/>
                </a:solidFill>
              </a:defRPr>
            </a:pPr>
            <a:r>
              <a:t>Staged changes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370831"/>
            <a:ext cx="3840480" cy="594360"/>
          </a:xfrm>
          <a:prstGeom prst="roundRect">
            <a:avLst/>
          </a:prstGeom>
          <a:solidFill>
            <a:srgbClr val="F3F6FA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416551"/>
            <a:ext cx="3694176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F2937"/>
                </a:solidFill>
              </a:defRPr>
            </a:pPr>
            <a:r>
              <a:t>git branch -vv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4416551"/>
            <a:ext cx="6126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F2937"/>
                </a:solidFill>
              </a:defRPr>
            </a:pPr>
            <a:r>
              <a:t>Branches + upstream info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5120640"/>
            <a:ext cx="3840480" cy="594360"/>
          </a:xfrm>
          <a:prstGeom prst="roundRect">
            <a:avLst/>
          </a:prstGeom>
          <a:solidFill>
            <a:srgbClr val="F3F6FA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5166359"/>
            <a:ext cx="3694176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F2937"/>
                </a:solidFill>
              </a:defRPr>
            </a:pPr>
            <a:r>
              <a:t>git show HEAD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0" y="5166359"/>
            <a:ext cx="6126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F2937"/>
                </a:solidFill>
              </a:defRPr>
            </a:pPr>
            <a:r>
              <a:t>Inspect current commit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9224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937"/>
                </a:solidFill>
              </a:defRPr>
            </a:pPr>
            <a:r>
              <a:t>Teaching Lab: Build a Small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1. Create a folder called git-lab and run git init.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2. Configure repository-local identity only if needed.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3. Create README.md and app.txt; check git status.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4. Stage README.md only; inspect git diff --staged.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5. Commit with: Add project documentation.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6. Create feature/update branch.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7. Modify app.txt, stage and commit.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8. Switch to main and merge the feature branch.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9. View history with --graph --decorate.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9224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937"/>
                </a:solidFill>
              </a:defRPr>
            </a:pPr>
            <a:r>
              <a:t>Instructor Demo: End-to-End Terminal Session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97280"/>
            <a:ext cx="11064240" cy="5394960"/>
          </a:xfrm>
          <a:prstGeom prst="roundRect">
            <a:avLst/>
          </a:prstGeom>
          <a:solidFill>
            <a:srgbClr val="1F293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1207007"/>
            <a:ext cx="10735056" cy="5175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FFFFF"/>
                </a:solidFill>
                <a:latin typeface="Consolas"/>
              </a:defRPr>
            </a:pPr>
            <a:r>
              <a:t>git config --global user.name "Gopal Das"</a:t>
            </a:r>
            <a:br/>
            <a:r>
              <a:t>git config --global user.email "you@example.com"</a:t>
            </a:r>
            <a:br/>
            <a:br/>
            <a:r>
              <a:t>git config --global init.defaultBranch main</a:t>
            </a:r>
            <a:br/>
            <a:br/>
            <a:r>
              <a:t>mkdir git-demo &amp;&amp; cd git-demo</a:t>
            </a:r>
            <a:br/>
            <a:r>
              <a:t>git init</a:t>
            </a:r>
            <a:br/>
            <a:br/>
            <a:r>
              <a:t>echo "# Git Demo" &gt; README.md</a:t>
            </a:r>
            <a:br/>
            <a:r>
              <a:t>git status</a:t>
            </a:r>
            <a:br/>
            <a:r>
              <a:t>git add README.md</a:t>
            </a:r>
            <a:br/>
            <a:r>
              <a:t>git commit -m "Add README"</a:t>
            </a:r>
            <a:br/>
            <a:br/>
            <a:r>
              <a:t>git switch -c feature/demo</a:t>
            </a:r>
            <a:br/>
            <a:r>
              <a:t>echo "demo" &gt; app.txt</a:t>
            </a:r>
            <a:br/>
            <a:r>
              <a:t>git add app.txt</a:t>
            </a:r>
            <a:br/>
            <a:r>
              <a:t>git commit -m "Add demo file"</a:t>
            </a:r>
            <a:br/>
            <a:br/>
            <a:r>
              <a:t>git switch main</a:t>
            </a:r>
            <a:br/>
            <a:r>
              <a:t>git merge feature/demo</a:t>
            </a:r>
            <a:br/>
            <a:r>
              <a:t>git log --oneline --graph --decorate --all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9224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937"/>
                </a:solidFill>
              </a:defRPr>
            </a:pPr>
            <a:r>
              <a:t>Best Practices &amp; Common Mistakes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Best practice: make small, atomic commits.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Best practice: write imperative, meaningful commit messages.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Best practice: inspect git status before switching/merging.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Best practice: use branches for isolated work.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Common mistake: committing secrets, .env files, or credentials.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Common mistake: using git add . without reviewing what will be committed.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Common mistake: working directly on main for every change.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Common mistake: rewriting shared history without coordination.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9224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937"/>
                </a:solidFill>
              </a:defRPr>
            </a:pPr>
            <a:r>
              <a:t>From Local Git to Team Workflow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828800"/>
            <a:ext cx="2286000" cy="914400"/>
          </a:xfrm>
          <a:prstGeom prst="roundRect">
            <a:avLst/>
          </a:prstGeom>
          <a:solidFill>
            <a:srgbClr val="F3F6FA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1" y="1874519"/>
            <a:ext cx="2139696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F2937"/>
                </a:solidFill>
              </a:defRPr>
            </a:pPr>
            <a:r>
              <a:t>Local repo</a:t>
            </a:r>
            <a:br/>
            <a:r>
              <a:t>init → add → commit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926080" y="2286000"/>
            <a:ext cx="731520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657600" y="1828800"/>
            <a:ext cx="2286000" cy="914400"/>
          </a:xfrm>
          <a:prstGeom prst="roundRect">
            <a:avLst/>
          </a:prstGeom>
          <a:solidFill>
            <a:srgbClr val="F3F6FA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30752" y="1874519"/>
            <a:ext cx="2139696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F2937"/>
                </a:solidFill>
              </a:defRPr>
            </a:pPr>
            <a:r>
              <a:t>Branch</a:t>
            </a:r>
            <a:br/>
            <a:r>
              <a:t>feature → commits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943600" y="2286000"/>
            <a:ext cx="731520" cy="0"/>
          </a:xfrm>
          <a:prstGeom prst="line">
            <a:avLst/>
          </a:prstGeom>
          <a:ln w="25400">
            <a:solidFill>
              <a:srgbClr val="EA58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675120" y="1828800"/>
            <a:ext cx="1828800" cy="914400"/>
          </a:xfrm>
          <a:prstGeom prst="roundRect">
            <a:avLst/>
          </a:prstGeom>
          <a:solidFill>
            <a:srgbClr val="F3F6FA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48272" y="1874519"/>
            <a:ext cx="1682496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F2937"/>
                </a:solidFill>
              </a:defRPr>
            </a:pPr>
            <a:r>
              <a:t>Remote</a:t>
            </a:r>
            <a:br/>
            <a:r>
              <a:t>push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503920" y="2286000"/>
            <a:ext cx="731520" cy="0"/>
          </a:xfrm>
          <a:prstGeom prst="line">
            <a:avLst/>
          </a:prstGeom>
          <a:ln w="2540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9235440" y="1828800"/>
            <a:ext cx="2103120" cy="914400"/>
          </a:xfrm>
          <a:prstGeom prst="roundRect">
            <a:avLst/>
          </a:prstGeom>
          <a:solidFill>
            <a:srgbClr val="F3F6F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08592" y="1874519"/>
            <a:ext cx="1956815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F2937"/>
                </a:solidFill>
              </a:defRPr>
            </a:pPr>
            <a:r>
              <a:t>PR / Review</a:t>
            </a:r>
            <a:br/>
            <a:r>
              <a:t>→ merge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3749039"/>
            <a:ext cx="9875520" cy="1371600"/>
          </a:xfrm>
          <a:prstGeom prst="roundRect">
            <a:avLst/>
          </a:prstGeom>
          <a:solidFill>
            <a:srgbClr val="1F293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61872" y="3858768"/>
            <a:ext cx="9546336" cy="115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FFFFFF"/>
                </a:solidFill>
                <a:latin typeface="Consolas"/>
              </a:defRPr>
            </a:pPr>
            <a:r>
              <a:t>Typical team loop:</a:t>
            </a:r>
            <a:br/>
            <a:r>
              <a:t>clone → branch → edit → add → commit → push → pull request → review → merge → pull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5394960"/>
            <a:ext cx="9875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</a:defRPr>
            </a:pPr>
            <a:r>
              <a:t>Next topics: remote repositories, git clone/pull/push, pull requests, rebasing, tags, GitHub Actions.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9224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