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1234440"/>
            <a:ext cx="0" cy="77724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2240280"/>
            <a:ext cx="0" cy="77724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5480" y="1508760"/>
            <a:ext cx="960120" cy="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0" y="2514600"/>
            <a:ext cx="960120" cy="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90304" y="96926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90304" y="197510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90304" y="298094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79024" y="1472184"/>
            <a:ext cx="256032" cy="256032"/>
          </a:xfrm>
          <a:prstGeom prst="ellipse">
            <a:avLst/>
          </a:prstGeom>
          <a:solidFill>
            <a:srgbClr val="F1502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79024" y="2478024"/>
            <a:ext cx="256032" cy="256032"/>
          </a:xfrm>
          <a:prstGeom prst="ellipse">
            <a:avLst/>
          </a:prstGeom>
          <a:solidFill>
            <a:srgbClr val="F1502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1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Config, Workflow &amp; Branching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of Git configuration variables, the core commit workflow, and branching — with diagrams for platform and DevOps teams.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194560" cy="219456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1417320"/>
            <a:ext cx="320040" cy="320040"/>
          </a:xfrm>
          <a:prstGeom prst="ellipse">
            <a:avLst/>
          </a:prstGeom>
          <a:ln w="31750">
            <a:solidFill>
              <a:srgbClr val="F150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331720"/>
            <a:ext cx="320040" cy="320040"/>
          </a:xfrm>
          <a:prstGeom prst="ellipse">
            <a:avLst/>
          </a:prstGeom>
          <a:ln w="317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5580" y="1737360"/>
            <a:ext cx="0" cy="59436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Global Configuration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640080" cy="54864"/>
          </a:xfrm>
          <a:prstGeom prst="rect">
            <a:avLst/>
          </a:prstGeom>
          <a:solidFill>
            <a:srgbClr val="F1502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variables that define how Git identifies and behaves for a 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Global Config Variables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per machine with git config --global &lt;key&gt; "&lt;value&gt;"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9659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attached to every commit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0" y="196596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"Gopal"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64240" cy="621792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8775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258775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attached to every commit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0" y="25877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"you@example.com"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954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core.editor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32095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editor for commit messages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0" y="320954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"vim"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1064240" cy="621792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3133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init.defaultBranch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383133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name for new repos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40880" y="383133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53128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531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color.ui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44531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terminal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445312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color.ui auto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621792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74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credential.helper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83280" y="50749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remote credentials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40880" y="50749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credential.helper cache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696712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6967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alias.co / alias.st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83280" y="569671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shorthand commands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40880" y="569671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alias.co checkout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Precedence: System → Global → Local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overrides the one before it — local settings win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8FA3D1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938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user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machine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/etc/gitconfig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2359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880360"/>
            <a:ext cx="0" cy="36576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97280" y="3246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5470B5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3355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one user,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repos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0" y="3410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~/.gitconfig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4297680"/>
            <a:ext cx="0" cy="36576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97280" y="46634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17320" y="4773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 single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0" y="4828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.git/config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5193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--local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828800"/>
            <a:ext cx="475488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ADF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precedence works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 sets machine-wide defaults for all users.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config (--global) overrides system, for one user across every repo.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config (.git/config, or --local) overrides global for that one repository — e.g. a work email on a work repo.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effective value: git config --show-origin user.email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194560" cy="219456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1417320"/>
            <a:ext cx="320040" cy="320040"/>
          </a:xfrm>
          <a:prstGeom prst="ellipse">
            <a:avLst/>
          </a:prstGeom>
          <a:ln w="31750">
            <a:solidFill>
              <a:srgbClr val="F150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331720"/>
            <a:ext cx="320040" cy="320040"/>
          </a:xfrm>
          <a:prstGeom prst="ellipse">
            <a:avLst/>
          </a:prstGeom>
          <a:ln w="317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5580" y="1737360"/>
            <a:ext cx="0" cy="59436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Workflow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640080" cy="54864"/>
          </a:xfrm>
          <a:prstGeom prst="rect">
            <a:avLst/>
          </a:prstGeom>
          <a:solidFill>
            <a:srgbClr val="F1502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change moves from your editor to a shared remote repository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Directory to Remote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stages every change passes 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8096" y="192024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8FA3D1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5256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05256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edit locally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54096" y="2304288"/>
            <a:ext cx="502920" cy="0"/>
          </a:xfrm>
          <a:prstGeom prst="line">
            <a:avLst/>
          </a:prstGeom>
          <a:noFill/>
          <a:ln w="34925">
            <a:solidFill>
              <a:srgbClr val="F1502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711196" y="1536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54096" y="3063240"/>
            <a:ext cx="502920" cy="0"/>
          </a:xfrm>
          <a:prstGeom prst="line">
            <a:avLst/>
          </a:prstGeom>
          <a:noFill/>
          <a:ln w="25400">
            <a:solidFill>
              <a:srgbClr val="8891AD"/>
            </a:solidFill>
            <a:prstDash val="dash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19756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57016" y="192024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5470B5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94176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94176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marked for commit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index)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43016" y="2304288"/>
            <a:ext cx="502920" cy="0"/>
          </a:xfrm>
          <a:prstGeom prst="line">
            <a:avLst/>
          </a:prstGeom>
          <a:noFill/>
          <a:ln w="34925">
            <a:solidFill>
              <a:srgbClr val="F1502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00116" y="1536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43016" y="3063240"/>
            <a:ext cx="502920" cy="0"/>
          </a:xfrm>
          <a:prstGeom prst="line">
            <a:avLst/>
          </a:prstGeom>
          <a:noFill/>
          <a:ln w="25400">
            <a:solidFill>
              <a:srgbClr val="8891AD"/>
            </a:solidFill>
            <a:prstDash val="dash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408676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45936" y="192024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83096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history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machine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31936" y="2304288"/>
            <a:ext cx="502920" cy="0"/>
          </a:xfrm>
          <a:prstGeom prst="line">
            <a:avLst/>
          </a:prstGeom>
          <a:noFill/>
          <a:ln w="34925">
            <a:solidFill>
              <a:srgbClr val="F1502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89036" y="1536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31936" y="3063240"/>
            <a:ext cx="502920" cy="0"/>
          </a:xfrm>
          <a:prstGeom prst="line">
            <a:avLst/>
          </a:prstGeom>
          <a:noFill/>
          <a:ln w="25400">
            <a:solidFill>
              <a:srgbClr val="8891AD"/>
            </a:solidFill>
            <a:prstDash val="dash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197596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/ fetch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34856" y="192024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72016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72016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history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/ GitLab / etc.)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977640"/>
            <a:ext cx="365760" cy="0"/>
          </a:xfrm>
          <a:prstGeom prst="line">
            <a:avLst/>
          </a:prstGeom>
          <a:noFill/>
          <a:ln w="34925">
            <a:solidFill>
              <a:srgbClr val="F1502F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28016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change forward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977640"/>
            <a:ext cx="365760" cy="0"/>
          </a:xfrm>
          <a:prstGeom prst="line">
            <a:avLst/>
          </a:prstGeom>
          <a:noFill/>
          <a:ln w="25400">
            <a:solidFill>
              <a:srgbClr val="8891AD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0292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sync backward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ADF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files in your working directory.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7472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&lt;file&gt; marks changes for the next commit.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Commit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"msg" saves a snapshot locally.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7824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Sync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77824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shares it; git pull brings remote changes in.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194560" cy="219456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1417320"/>
            <a:ext cx="320040" cy="320040"/>
          </a:xfrm>
          <a:prstGeom prst="ellipse">
            <a:avLst/>
          </a:prstGeom>
          <a:ln w="31750">
            <a:solidFill>
              <a:srgbClr val="F150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331720"/>
            <a:ext cx="320040" cy="320040"/>
          </a:xfrm>
          <a:prstGeom prst="ellipse">
            <a:avLst/>
          </a:prstGeom>
          <a:ln w="317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5580" y="1737360"/>
            <a:ext cx="0" cy="59436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Branching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640080" cy="54864"/>
          </a:xfrm>
          <a:prstGeom prst="rect">
            <a:avLst/>
          </a:prstGeom>
          <a:solidFill>
            <a:srgbClr val="F1502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work in parallel lines of development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&amp; Merging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branch diverges from main, then merges 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2560320"/>
            <a:ext cx="94183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28216" y="245973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08376" y="245973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63256" y="245973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9176" y="245973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23576" y="245973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560320"/>
            <a:ext cx="0" cy="164592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4206240"/>
            <a:ext cx="4754880" cy="0"/>
          </a:xfrm>
          <a:prstGeom prst="line">
            <a:avLst/>
          </a:prstGeom>
          <a:noFill/>
          <a:ln w="38100">
            <a:solidFill>
              <a:srgbClr val="F150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206240"/>
            <a:ext cx="0" cy="-1645920"/>
          </a:xfrm>
          <a:prstGeom prst="line">
            <a:avLst/>
          </a:prstGeom>
          <a:noFill/>
          <a:ln w="31750">
            <a:solidFill>
              <a:srgbClr val="F1502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29184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5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feature/login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05656" y="4105656"/>
            <a:ext cx="201168" cy="201168"/>
          </a:xfrm>
          <a:prstGeom prst="ellipse">
            <a:avLst/>
          </a:prstGeom>
          <a:solidFill>
            <a:srgbClr val="F1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2936" y="4105656"/>
            <a:ext cx="201168" cy="201168"/>
          </a:xfrm>
          <a:prstGeom prst="ellipse">
            <a:avLst/>
          </a:prstGeom>
          <a:solidFill>
            <a:srgbClr val="F1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4105656"/>
            <a:ext cx="201168" cy="201168"/>
          </a:xfrm>
          <a:prstGeom prst="ellipse">
            <a:avLst/>
          </a:prstGeom>
          <a:solidFill>
            <a:srgbClr val="F1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feature/login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" y="5212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8FA3D1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5303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5623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  or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9856" y="5212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5470B5"/>
          </a:solidFill>
          <a:ln/>
        </p:spPr>
      </p:sp>
      <p:sp>
        <p:nvSpPr>
          <p:cNvPr id="24" name="Text 22"/>
          <p:cNvSpPr/>
          <p:nvPr/>
        </p:nvSpPr>
        <p:spPr>
          <a:xfrm>
            <a:off x="3602736" y="5303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02736" y="5623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  or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5212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345936" y="5303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5936" y="5623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06256" y="5212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141B4D"/>
          </a:solidFill>
          <a:ln/>
        </p:spPr>
      </p:sp>
      <p:sp>
        <p:nvSpPr>
          <p:cNvPr id="30" name="Text 28"/>
          <p:cNvSpPr/>
          <p:nvPr/>
        </p:nvSpPr>
        <p:spPr>
          <a:xfrm>
            <a:off x="9089136" y="5303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89136" y="5623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(after merge)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Strategies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approaches for teams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2356" y="169164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2356" y="24688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F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2396" y="269748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develop + feature/release/hotfix branches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scheduled, versioned releases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structure, more branches to manage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on-prem / enterprise software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14516" y="169164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1502F"/>
          </a:solidFill>
          <a:ln/>
        </p:spPr>
      </p:sp>
      <p:sp>
        <p:nvSpPr>
          <p:cNvPr id="9" name="Text 7"/>
          <p:cNvSpPr/>
          <p:nvPr/>
        </p:nvSpPr>
        <p:spPr>
          <a:xfrm>
            <a:off x="6688836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Trunk-Based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14516" y="24688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F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4556" y="269748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branches merged into main frequently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CI/CD and continuous delivery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long-running branches, less drift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cloud-native / DevOps teams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2356" y="46177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882396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2396" y="5074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start with trunk-based and add structure only if release cadence demands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Recap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640080" cy="54864"/>
          </a:xfrm>
          <a:prstGeom prst="rect">
            <a:avLst/>
          </a:prstGeom>
          <a:solidFill>
            <a:srgbClr val="F1502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087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37360"/>
            <a:ext cx="365760" cy="365760"/>
          </a:xfrm>
          <a:prstGeom prst="ellipse">
            <a:avLst/>
          </a:prstGeom>
          <a:solidFill>
            <a:srgbClr val="F1502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identity once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user.name and user.email globally so every commit is correctly attributed.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6720840" y="1737360"/>
            <a:ext cx="365760" cy="365760"/>
          </a:xfrm>
          <a:prstGeom prst="ellipse">
            <a:avLst/>
          </a:prstGeom>
          <a:solidFill>
            <a:srgbClr val="F1502F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commit often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69480" y="20116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logical chunks of work — easier to review, revert, and bisect.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291840"/>
            <a:ext cx="365760" cy="365760"/>
          </a:xfrm>
          <a:prstGeom prst="ellipse">
            <a:avLst/>
          </a:prstGeom>
          <a:solidFill>
            <a:srgbClr val="F1502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for every change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deployable; do work on short-lived feature branches.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30632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3291840"/>
            <a:ext cx="365760" cy="365760"/>
          </a:xfrm>
          <a:prstGeom prst="ellipse">
            <a:avLst/>
          </a:prstGeom>
          <a:solidFill>
            <a:srgbClr val="F1502F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before you push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6948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(or fetch + rebase) before pushing to avoid unnecessary merge conflicts.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61772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4846320"/>
            <a:ext cx="365760" cy="365760"/>
          </a:xfrm>
          <a:prstGeom prst="ellipse">
            <a:avLst/>
          </a:prstGeom>
          <a:solidFill>
            <a:srgbClr val="F1502F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754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merged branches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5120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feature branches after merge to keep the repo readable.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461772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/>
        </p:spPr>
      </p:sp>
      <p:sp>
        <p:nvSpPr>
          <p:cNvPr id="30" name="Shape 28"/>
          <p:cNvSpPr/>
          <p:nvPr/>
        </p:nvSpPr>
        <p:spPr>
          <a:xfrm>
            <a:off x="6720840" y="4846320"/>
            <a:ext cx="365760" cy="365760"/>
          </a:xfrm>
          <a:prstGeom prst="ellipse">
            <a:avLst/>
          </a:prstGeom>
          <a:solidFill>
            <a:srgbClr val="F1502F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4754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aliases &amp; config wisely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269480" y="5120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config overrides global — use it for per-repo identity or hooks.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2026-09-02T10:14:49Z</dcterms:created>
  <dcterms:modified xsi:type="dcterms:W3CDTF">2026-09-02T10:14:49Z</dcterms:modified>
</cp:coreProperties>
</file>